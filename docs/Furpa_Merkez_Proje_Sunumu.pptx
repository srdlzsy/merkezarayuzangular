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tr-TR" smtClean="0"/>
              <a:t>Asıl alt başlık stilini düzenlemek için tıklatın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AFE2A-17EC-464C-8A87-9404E8C844B4}" type="datetimeFigureOut">
              <a:rPr lang="tr-TR" smtClean="0"/>
              <a:t>21.07.2026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9A1A4-C7A4-455B-8AB8-F8EBC84A377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668353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AFE2A-17EC-464C-8A87-9404E8C844B4}" type="datetimeFigureOut">
              <a:rPr lang="tr-TR" smtClean="0"/>
              <a:t>21.07.2026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9A1A4-C7A4-455B-8AB8-F8EBC84A377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3449082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AFE2A-17EC-464C-8A87-9404E8C844B4}" type="datetimeFigureOut">
              <a:rPr lang="tr-TR" smtClean="0"/>
              <a:t>21.07.2026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9A1A4-C7A4-455B-8AB8-F8EBC84A377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9829679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sz="half" idx="1"/>
          </p:nvPr>
        </p:nvSpPr>
        <p:spPr>
          <a:xfrm>
            <a:off x="812800" y="1600201"/>
            <a:ext cx="7213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8229600" y="1600201"/>
            <a:ext cx="7213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AFE2A-17EC-464C-8A87-9404E8C844B4}" type="datetimeFigureOut">
              <a:rPr lang="tr-TR" smtClean="0"/>
              <a:t>21.07.2026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9A1A4-C7A4-455B-8AB8-F8EBC84A377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2983120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Metin Yer Tutucusu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6" name="İçerik Yer Tutucusu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7" name="Veri Yer Tutucusu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AFE2A-17EC-464C-8A87-9404E8C844B4}" type="datetimeFigureOut">
              <a:rPr lang="tr-TR" smtClean="0"/>
              <a:t>21.07.2026</a:t>
            </a:fld>
            <a:endParaRPr lang="tr-TR"/>
          </a:p>
        </p:txBody>
      </p:sp>
      <p:sp>
        <p:nvSpPr>
          <p:cNvPr id="8" name="Altbilgi Yer Tutucusu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9A1A4-C7A4-455B-8AB8-F8EBC84A377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9190811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AFE2A-17EC-464C-8A87-9404E8C844B4}" type="datetimeFigureOut">
              <a:rPr lang="tr-TR" smtClean="0"/>
              <a:t>21.07.2026</a:t>
            </a:fld>
            <a:endParaRPr lang="tr-TR"/>
          </a:p>
        </p:txBody>
      </p:sp>
      <p:sp>
        <p:nvSpPr>
          <p:cNvPr id="4" name="Altbilgi Yer Tutucusu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9A1A4-C7A4-455B-8AB8-F8EBC84A377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8782247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AFE2A-17EC-464C-8A87-9404E8C844B4}" type="datetimeFigureOut">
              <a:rPr lang="tr-TR" smtClean="0"/>
              <a:t>21.07.2026</a:t>
            </a:fld>
            <a:endParaRPr lang="tr-TR"/>
          </a:p>
        </p:txBody>
      </p:sp>
      <p:sp>
        <p:nvSpPr>
          <p:cNvPr id="3" name="Altbilgi Yer Tutucusu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9A1A4-C7A4-455B-8AB8-F8EBC84A377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9155873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AFE2A-17EC-464C-8A87-9404E8C844B4}" type="datetimeFigureOut">
              <a:rPr lang="tr-TR" smtClean="0"/>
              <a:t>21.07.2026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9A1A4-C7A4-455B-8AB8-F8EBC84A377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89142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Resim Yer Tutucusu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AFE2A-17EC-464C-8A87-9404E8C844B4}" type="datetimeFigureOut">
              <a:rPr lang="tr-TR" smtClean="0"/>
              <a:t>21.07.2026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9A1A4-C7A4-455B-8AB8-F8EBC84A377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1377142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AFE2A-17EC-464C-8A87-9404E8C844B4}" type="datetimeFigureOut">
              <a:rPr lang="tr-TR" smtClean="0"/>
              <a:t>21.07.2026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9A1A4-C7A4-455B-8AB8-F8EBC84A377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8400197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/>
          <p:cNvSpPr>
            <a:spLocks noGrp="1"/>
          </p:cNvSpPr>
          <p:nvPr>
            <p:ph type="title" orient="vert"/>
          </p:nvPr>
        </p:nvSpPr>
        <p:spPr>
          <a:xfrm>
            <a:off x="11785600" y="274639"/>
            <a:ext cx="3657600" cy="5851525"/>
          </a:xfrm>
        </p:spPr>
        <p:txBody>
          <a:bodyPr vert="eaVert"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>
          <a:xfrm>
            <a:off x="812800" y="274639"/>
            <a:ext cx="10769600" cy="5851525"/>
          </a:xfrm>
        </p:spPr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AFE2A-17EC-464C-8A87-9404E8C844B4}" type="datetimeFigureOut">
              <a:rPr lang="tr-TR" smtClean="0"/>
              <a:t>21.07.2026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9A1A4-C7A4-455B-8AB8-F8EBC84A377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1158172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6AFE2A-17EC-464C-8A87-9404E8C844B4}" type="datetimeFigureOut">
              <a:rPr lang="tr-TR" smtClean="0"/>
              <a:t>21.07.2026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99A1A4-C7A4-455B-8AB8-F8EBC84A377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9395498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dörtgen 1"/>
          <p:cNvSpPr/>
          <p:nvPr/>
        </p:nvSpPr>
        <p:spPr>
          <a:xfrm>
            <a:off x="0" y="6261100"/>
            <a:ext cx="12192000" cy="596900"/>
          </a:xfrm>
          <a:prstGeom prst="rect">
            <a:avLst/>
          </a:prstGeom>
          <a:solidFill>
            <a:srgbClr val="FFE600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3" name="Dikdörtgen 2"/>
          <p:cNvSpPr/>
          <p:nvPr/>
        </p:nvSpPr>
        <p:spPr>
          <a:xfrm>
            <a:off x="8255000" y="0"/>
            <a:ext cx="3937000" cy="6858000"/>
          </a:xfrm>
          <a:prstGeom prst="rect">
            <a:avLst/>
          </a:prstGeom>
          <a:solidFill>
            <a:srgbClr val="101A44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pic>
        <p:nvPicPr>
          <p:cNvPr id="4" name="Resim 3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400" y="558800"/>
            <a:ext cx="2540000" cy="596900"/>
          </a:xfrm>
          <a:prstGeom prst="rect">
            <a:avLst/>
          </a:prstGeom>
        </p:spPr>
      </p:pic>
      <p:sp>
        <p:nvSpPr>
          <p:cNvPr id="5" name="Metin kutusu 4"/>
          <p:cNvSpPr txBox="1"/>
          <p:nvPr/>
        </p:nvSpPr>
        <p:spPr>
          <a:xfrm>
            <a:off x="660400" y="1498600"/>
            <a:ext cx="7112000" cy="713016"/>
          </a:xfrm>
          <a:prstGeom prst="rect">
            <a:avLst/>
          </a:prstGeom>
          <a:noFill/>
        </p:spPr>
        <p:txBody>
          <a:bodyPr vert="horz" wrap="square" lIns="101600" tIns="63500" rIns="101600" bIns="63500" rtlCol="0">
            <a:spAutoFit/>
          </a:bodyPr>
          <a:lstStyle/>
          <a:p>
            <a:r>
              <a:rPr lang="tr-TR" sz="3800" b="1" smtClean="0">
                <a:solidFill>
                  <a:srgbClr val="FFFFFF"/>
                </a:solidFill>
                <a:latin typeface="Calibri"/>
              </a:rPr>
              <a:t>Furpa Merkez Arayüzü</a:t>
            </a:r>
            <a:endParaRPr lang="tr-TR" sz="38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" name="Metin kutusu 5"/>
          <p:cNvSpPr txBox="1"/>
          <p:nvPr/>
        </p:nvSpPr>
        <p:spPr>
          <a:xfrm>
            <a:off x="711200" y="2717800"/>
            <a:ext cx="6604000" cy="405239"/>
          </a:xfrm>
          <a:prstGeom prst="rect">
            <a:avLst/>
          </a:prstGeom>
          <a:noFill/>
        </p:spPr>
        <p:txBody>
          <a:bodyPr vert="horz" wrap="square" lIns="101600" tIns="63500" rIns="101600" bIns="63500" rtlCol="0">
            <a:spAutoFit/>
          </a:bodyPr>
          <a:lstStyle/>
          <a:p>
            <a:r>
              <a:rPr lang="tr-TR" smtClean="0">
                <a:solidFill>
                  <a:srgbClr val="E8EDFF"/>
                </a:solidFill>
                <a:latin typeface="Calibri"/>
              </a:rPr>
              <a:t>Angular 20 tabanlı merkezi operasyon ve yönetim paneli</a:t>
            </a:r>
            <a:endParaRPr lang="tr-TR">
              <a:solidFill>
                <a:srgbClr val="E8EDFF"/>
              </a:solidFill>
              <a:latin typeface="Calibri"/>
            </a:endParaRPr>
          </a:p>
        </p:txBody>
      </p:sp>
      <p:sp>
        <p:nvSpPr>
          <p:cNvPr id="7" name="Metin kutusu 6"/>
          <p:cNvSpPr txBox="1"/>
          <p:nvPr/>
        </p:nvSpPr>
        <p:spPr>
          <a:xfrm>
            <a:off x="711200" y="3733800"/>
            <a:ext cx="4953000" cy="328295"/>
          </a:xfrm>
          <a:prstGeom prst="rect">
            <a:avLst/>
          </a:prstGeom>
          <a:noFill/>
        </p:spPr>
        <p:txBody>
          <a:bodyPr vert="horz" wrap="square" lIns="101600" tIns="63500" rIns="101600" bIns="63500" rtlCol="0">
            <a:spAutoFit/>
          </a:bodyPr>
          <a:lstStyle/>
          <a:p>
            <a:r>
              <a:rPr lang="tr-TR" sz="1300" b="1" smtClean="0">
                <a:solidFill>
                  <a:srgbClr val="FFE600"/>
                </a:solidFill>
                <a:latin typeface="Calibri"/>
              </a:rPr>
              <a:t>Patron sunumu | 21 Temmuz 2026</a:t>
            </a:r>
            <a:endParaRPr lang="tr-TR" sz="1300" b="1">
              <a:solidFill>
                <a:srgbClr val="FFE600"/>
              </a:solidFill>
              <a:latin typeface="Calibri"/>
            </a:endParaRPr>
          </a:p>
        </p:txBody>
      </p:sp>
      <p:pic>
        <p:nvPicPr>
          <p:cNvPr id="8" name="Resim 7"/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0000" y="1143000"/>
            <a:ext cx="2057400" cy="1079500"/>
          </a:xfrm>
          <a:prstGeom prst="rect">
            <a:avLst/>
          </a:prstGeom>
        </p:spPr>
      </p:pic>
      <p:pic>
        <p:nvPicPr>
          <p:cNvPr id="9" name="Resim 8"/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5000" y="2794000"/>
            <a:ext cx="3022600" cy="1968500"/>
          </a:xfrm>
          <a:prstGeom prst="rect">
            <a:avLst/>
          </a:prstGeom>
        </p:spPr>
      </p:pic>
      <p:sp>
        <p:nvSpPr>
          <p:cNvPr id="10" name="Metin kutusu 9"/>
          <p:cNvSpPr txBox="1"/>
          <p:nvPr/>
        </p:nvSpPr>
        <p:spPr>
          <a:xfrm>
            <a:off x="711200" y="6350000"/>
            <a:ext cx="7493000" cy="312906"/>
          </a:xfrm>
          <a:prstGeom prst="rect">
            <a:avLst/>
          </a:prstGeom>
          <a:noFill/>
        </p:spPr>
        <p:txBody>
          <a:bodyPr vert="horz" wrap="square" lIns="101600" tIns="63500" rIns="101600" bIns="63500" rtlCol="0">
            <a:spAutoFit/>
          </a:bodyPr>
          <a:lstStyle/>
          <a:p>
            <a:r>
              <a:rPr lang="tr-TR" sz="1200" b="1" smtClean="0">
                <a:solidFill>
                  <a:srgbClr val="17226B"/>
                </a:solidFill>
                <a:latin typeface="Calibri"/>
              </a:rPr>
              <a:t>Tek ekran, kontrollü yetki, operasyonel görünürlük</a:t>
            </a:r>
            <a:endParaRPr lang="tr-TR" sz="1200" b="1">
              <a:solidFill>
                <a:srgbClr val="17226B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427300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etin kutusu 1"/>
          <p:cNvSpPr txBox="1"/>
          <p:nvPr/>
        </p:nvSpPr>
        <p:spPr>
          <a:xfrm>
            <a:off x="584200" y="330200"/>
            <a:ext cx="8128000" cy="512961"/>
          </a:xfrm>
          <a:prstGeom prst="rect">
            <a:avLst/>
          </a:prstGeom>
          <a:noFill/>
        </p:spPr>
        <p:txBody>
          <a:bodyPr vert="horz" wrap="square" lIns="101600" tIns="63500" rIns="101600" bIns="63500" rtlCol="0">
            <a:spAutoFit/>
          </a:bodyPr>
          <a:lstStyle/>
          <a:p>
            <a:r>
              <a:rPr lang="tr-TR" sz="2500" b="1" smtClean="0">
                <a:solidFill>
                  <a:srgbClr val="172033"/>
                </a:solidFill>
                <a:latin typeface="Calibri"/>
              </a:rPr>
              <a:t>Yönetici Özeti</a:t>
            </a:r>
            <a:endParaRPr lang="tr-TR" sz="2500" b="1">
              <a:solidFill>
                <a:srgbClr val="172033"/>
              </a:solidFill>
              <a:latin typeface="Calibri"/>
            </a:endParaRPr>
          </a:p>
        </p:txBody>
      </p:sp>
      <p:sp>
        <p:nvSpPr>
          <p:cNvPr id="3" name="Metin kutusu 2"/>
          <p:cNvSpPr txBox="1"/>
          <p:nvPr/>
        </p:nvSpPr>
        <p:spPr>
          <a:xfrm>
            <a:off x="609600" y="774700"/>
            <a:ext cx="8953500" cy="266740"/>
          </a:xfrm>
          <a:prstGeom prst="rect">
            <a:avLst/>
          </a:prstGeom>
          <a:noFill/>
        </p:spPr>
        <p:txBody>
          <a:bodyPr vert="horz" wrap="square" lIns="101600" tIns="63500" rIns="101600" bIns="63500" rtlCol="0">
            <a:spAutoFit/>
          </a:bodyPr>
          <a:lstStyle/>
          <a:p>
            <a:r>
              <a:rPr lang="tr-TR" sz="900" smtClean="0">
                <a:solidFill>
                  <a:srgbClr val="667085"/>
                </a:solidFill>
                <a:latin typeface="Calibri"/>
              </a:rPr>
              <a:t>Projenin patron gözüyle kısa karşılığı</a:t>
            </a:r>
            <a:endParaRPr lang="tr-TR" sz="900">
              <a:solidFill>
                <a:srgbClr val="667085"/>
              </a:solidFill>
              <a:latin typeface="Calibri"/>
            </a:endParaRPr>
          </a:p>
        </p:txBody>
      </p:sp>
      <p:sp>
        <p:nvSpPr>
          <p:cNvPr id="4" name="Dikdörtgen 3"/>
          <p:cNvSpPr/>
          <p:nvPr/>
        </p:nvSpPr>
        <p:spPr>
          <a:xfrm>
            <a:off x="609600" y="1168400"/>
            <a:ext cx="1079500" cy="63500"/>
          </a:xfrm>
          <a:prstGeom prst="rect">
            <a:avLst/>
          </a:prstGeom>
          <a:solidFill>
            <a:srgbClr val="FFE600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5" name="Yuvarlatılmış Dikdörtgen 4"/>
          <p:cNvSpPr/>
          <p:nvPr/>
        </p:nvSpPr>
        <p:spPr>
          <a:xfrm>
            <a:off x="635000" y="1473200"/>
            <a:ext cx="2489200" cy="914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EE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63500" rIns="101600" bIns="63500" rtlCol="0" anchor="ctr"/>
          <a:lstStyle/>
          <a:p>
            <a:r>
              <a:rPr lang="tr-TR" sz="2000" b="1" smtClean="0">
                <a:solidFill>
                  <a:srgbClr val="17226B"/>
                </a:solidFill>
                <a:latin typeface="Calibri"/>
              </a:rPr>
              <a:t>55</a:t>
            </a:r>
          </a:p>
          <a:p>
            <a:r>
              <a:rPr lang="tr-TR" sz="2000" b="1" smtClean="0">
                <a:solidFill>
                  <a:srgbClr val="17226B"/>
                </a:solidFill>
                <a:latin typeface="Calibri"/>
              </a:rPr>
              <a:t>tanımlı görev alanı</a:t>
            </a:r>
            <a:endParaRPr lang="tr-TR" sz="2000" b="1">
              <a:solidFill>
                <a:srgbClr val="17226B"/>
              </a:solidFill>
              <a:latin typeface="Calibri"/>
            </a:endParaRPr>
          </a:p>
        </p:txBody>
      </p:sp>
      <p:sp>
        <p:nvSpPr>
          <p:cNvPr id="6" name="Yuvarlatılmış Dikdörtgen 5"/>
          <p:cNvSpPr/>
          <p:nvPr/>
        </p:nvSpPr>
        <p:spPr>
          <a:xfrm>
            <a:off x="3238500" y="1473200"/>
            <a:ext cx="2489200" cy="914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EE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63500" rIns="101600" bIns="63500" rtlCol="0" anchor="ctr"/>
          <a:lstStyle/>
          <a:p>
            <a:r>
              <a:rPr lang="tr-TR" sz="2000" b="1" smtClean="0">
                <a:solidFill>
                  <a:srgbClr val="0D8A3A"/>
                </a:solidFill>
                <a:latin typeface="Calibri"/>
              </a:rPr>
              <a:t>296</a:t>
            </a:r>
          </a:p>
          <a:p>
            <a:r>
              <a:rPr lang="tr-TR" sz="2000" b="1" smtClean="0">
                <a:solidFill>
                  <a:srgbClr val="0D8A3A"/>
                </a:solidFill>
                <a:latin typeface="Calibri"/>
              </a:rPr>
              <a:t>API endpoint referansı</a:t>
            </a:r>
            <a:endParaRPr lang="tr-TR" sz="2000" b="1">
              <a:solidFill>
                <a:srgbClr val="0D8A3A"/>
              </a:solidFill>
              <a:latin typeface="Calibri"/>
            </a:endParaRPr>
          </a:p>
        </p:txBody>
      </p:sp>
      <p:sp>
        <p:nvSpPr>
          <p:cNvPr id="7" name="Yuvarlatılmış Dikdörtgen 6"/>
          <p:cNvSpPr/>
          <p:nvPr/>
        </p:nvSpPr>
        <p:spPr>
          <a:xfrm>
            <a:off x="5842000" y="1473200"/>
            <a:ext cx="2489200" cy="914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EE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63500" rIns="101600" bIns="63500" rtlCol="0" anchor="ctr"/>
          <a:lstStyle/>
          <a:p>
            <a:r>
              <a:rPr lang="tr-TR" sz="2000" b="1" smtClean="0">
                <a:solidFill>
                  <a:srgbClr val="137C8B"/>
                </a:solidFill>
                <a:latin typeface="Calibri"/>
              </a:rPr>
              <a:t>18</a:t>
            </a:r>
          </a:p>
          <a:p>
            <a:r>
              <a:rPr lang="tr-TR" sz="2000" b="1" smtClean="0">
                <a:solidFill>
                  <a:srgbClr val="137C8B"/>
                </a:solidFill>
                <a:latin typeface="Calibri"/>
              </a:rPr>
              <a:t>modül servis katmanı</a:t>
            </a:r>
            <a:endParaRPr lang="tr-TR" sz="2000" b="1">
              <a:solidFill>
                <a:srgbClr val="137C8B"/>
              </a:solidFill>
              <a:latin typeface="Calibri"/>
            </a:endParaRPr>
          </a:p>
        </p:txBody>
      </p:sp>
      <p:sp>
        <p:nvSpPr>
          <p:cNvPr id="8" name="Yuvarlatılmış Dikdörtgen 7"/>
          <p:cNvSpPr/>
          <p:nvPr/>
        </p:nvSpPr>
        <p:spPr>
          <a:xfrm>
            <a:off x="8445500" y="1473200"/>
            <a:ext cx="2489200" cy="914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EE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63500" rIns="101600" bIns="63500" rtlCol="0" anchor="ctr"/>
          <a:lstStyle/>
          <a:p>
            <a:r>
              <a:rPr lang="tr-TR" sz="2000" b="1" smtClean="0">
                <a:solidFill>
                  <a:srgbClr val="C62828"/>
                </a:solidFill>
                <a:latin typeface="Calibri"/>
              </a:rPr>
              <a:t>27</a:t>
            </a:r>
          </a:p>
          <a:p>
            <a:r>
              <a:rPr lang="tr-TR" sz="2000" b="1" smtClean="0">
                <a:solidFill>
                  <a:srgbClr val="C62828"/>
                </a:solidFill>
                <a:latin typeface="Calibri"/>
              </a:rPr>
              <a:t>DTO / contract dosyası</a:t>
            </a:r>
            <a:endParaRPr lang="tr-TR" sz="2000" b="1">
              <a:solidFill>
                <a:srgbClr val="C62828"/>
              </a:solidFill>
              <a:latin typeface="Calibri"/>
            </a:endParaRPr>
          </a:p>
        </p:txBody>
      </p:sp>
      <p:sp>
        <p:nvSpPr>
          <p:cNvPr id="9" name="Metin kutusu 8"/>
          <p:cNvSpPr txBox="1"/>
          <p:nvPr/>
        </p:nvSpPr>
        <p:spPr>
          <a:xfrm>
            <a:off x="736600" y="2984500"/>
            <a:ext cx="5651500" cy="1128514"/>
          </a:xfrm>
          <a:prstGeom prst="rect">
            <a:avLst/>
          </a:prstGeom>
          <a:noFill/>
        </p:spPr>
        <p:txBody>
          <a:bodyPr vert="horz" wrap="square" lIns="101600" tIns="63500" rIns="101600" bIns="63500" rtlCol="0">
            <a:spAutoFit/>
          </a:bodyPr>
          <a:lstStyle/>
          <a:p>
            <a:r>
              <a:rPr lang="tr-TR" sz="1300" smtClean="0">
                <a:solidFill>
                  <a:srgbClr val="172033"/>
                </a:solidFill>
                <a:latin typeface="Calibri"/>
              </a:rPr>
              <a:t>- Şube, depo, kasa ve merkez operasyonları tek Angular arayüzünde toplanıyor.</a:t>
            </a:r>
          </a:p>
          <a:p>
            <a:r>
              <a:rPr lang="tr-TR" sz="1300" smtClean="0">
                <a:solidFill>
                  <a:srgbClr val="172033"/>
                </a:solidFill>
                <a:latin typeface="Calibri"/>
              </a:rPr>
              <a:t>- Güncel /api yapısına göre servisler, ekranlar ve endpoint referansları ayrıştırılmış durumda.</a:t>
            </a:r>
          </a:p>
          <a:p>
            <a:r>
              <a:rPr lang="tr-TR" sz="1300" smtClean="0">
                <a:solidFill>
                  <a:srgbClr val="172033"/>
                </a:solidFill>
                <a:latin typeface="Calibri"/>
              </a:rPr>
              <a:t>- Kullanıcı rolüne göre menü ve ekran erişimi dinamik yönetiliyor.</a:t>
            </a:r>
          </a:p>
          <a:p>
            <a:r>
              <a:rPr lang="tr-TR" sz="1300" smtClean="0">
                <a:solidFill>
                  <a:srgbClr val="172033"/>
                </a:solidFill>
                <a:latin typeface="Calibri"/>
              </a:rPr>
              <a:t>- Liste, detay, oluşturma, yazdırma ve analiz akışları aynı tasarım dilinde ilerliyor.</a:t>
            </a:r>
            <a:endParaRPr lang="tr-TR" sz="1300">
              <a:solidFill>
                <a:srgbClr val="172033"/>
              </a:solidFill>
              <a:latin typeface="Calibri"/>
            </a:endParaRPr>
          </a:p>
        </p:txBody>
      </p:sp>
      <p:sp>
        <p:nvSpPr>
          <p:cNvPr id="10" name="Yuvarlatılmış Dikdörtgen 9"/>
          <p:cNvSpPr/>
          <p:nvPr/>
        </p:nvSpPr>
        <p:spPr>
          <a:xfrm>
            <a:off x="6731000" y="2921000"/>
            <a:ext cx="4445000" cy="1524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EE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63500" rIns="101600" bIns="63500" rtlCol="0" anchor="ctr"/>
          <a:lstStyle/>
          <a:p>
            <a:r>
              <a:rPr lang="tr-TR" sz="1500" b="1" smtClean="0">
                <a:solidFill>
                  <a:srgbClr val="172033"/>
                </a:solidFill>
                <a:latin typeface="Calibri"/>
              </a:rPr>
              <a:t>Ana Mesaj</a:t>
            </a:r>
          </a:p>
          <a:p>
            <a:r>
              <a:rPr lang="tr-TR" sz="1500" b="1" smtClean="0">
                <a:solidFill>
                  <a:srgbClr val="172033"/>
                </a:solidFill>
                <a:latin typeface="Calibri"/>
              </a:rPr>
              <a:t>Bu proje sadece ekran yenilemesi değil; merkez operasyonunun ölçülebilir, izlenebilir ve yetki kontrollü hale getirilmesidir.</a:t>
            </a:r>
            <a:endParaRPr lang="tr-TR" sz="1500" b="1">
              <a:solidFill>
                <a:srgbClr val="172033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124829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etin kutusu 1"/>
          <p:cNvSpPr txBox="1"/>
          <p:nvPr/>
        </p:nvSpPr>
        <p:spPr>
          <a:xfrm>
            <a:off x="584200" y="330200"/>
            <a:ext cx="8128000" cy="512961"/>
          </a:xfrm>
          <a:prstGeom prst="rect">
            <a:avLst/>
          </a:prstGeom>
          <a:noFill/>
        </p:spPr>
        <p:txBody>
          <a:bodyPr vert="horz" wrap="square" lIns="101600" tIns="63500" rIns="101600" bIns="63500" rtlCol="0">
            <a:spAutoFit/>
          </a:bodyPr>
          <a:lstStyle/>
          <a:p>
            <a:r>
              <a:rPr lang="tr-TR" sz="2500" b="1" smtClean="0">
                <a:solidFill>
                  <a:srgbClr val="172033"/>
                </a:solidFill>
                <a:latin typeface="Calibri"/>
              </a:rPr>
              <a:t>Hedeflenen Sorun</a:t>
            </a:r>
            <a:endParaRPr lang="tr-TR" sz="2500" b="1">
              <a:solidFill>
                <a:srgbClr val="172033"/>
              </a:solidFill>
              <a:latin typeface="Calibri"/>
            </a:endParaRPr>
          </a:p>
        </p:txBody>
      </p:sp>
      <p:sp>
        <p:nvSpPr>
          <p:cNvPr id="3" name="Metin kutusu 2"/>
          <p:cNvSpPr txBox="1"/>
          <p:nvPr/>
        </p:nvSpPr>
        <p:spPr>
          <a:xfrm>
            <a:off x="609600" y="774700"/>
            <a:ext cx="8953500" cy="266740"/>
          </a:xfrm>
          <a:prstGeom prst="rect">
            <a:avLst/>
          </a:prstGeom>
          <a:noFill/>
        </p:spPr>
        <p:txBody>
          <a:bodyPr vert="horz" wrap="square" lIns="101600" tIns="63500" rIns="101600" bIns="63500" rtlCol="0">
            <a:spAutoFit/>
          </a:bodyPr>
          <a:lstStyle/>
          <a:p>
            <a:r>
              <a:rPr lang="tr-TR" sz="900" smtClean="0">
                <a:solidFill>
                  <a:srgbClr val="667085"/>
                </a:solidFill>
                <a:latin typeface="Calibri"/>
              </a:rPr>
              <a:t>Dağınık operasyonu tek güvenli merkeze alma</a:t>
            </a:r>
            <a:endParaRPr lang="tr-TR" sz="900">
              <a:solidFill>
                <a:srgbClr val="667085"/>
              </a:solidFill>
              <a:latin typeface="Calibri"/>
            </a:endParaRPr>
          </a:p>
        </p:txBody>
      </p:sp>
      <p:sp>
        <p:nvSpPr>
          <p:cNvPr id="4" name="Dikdörtgen 3"/>
          <p:cNvSpPr/>
          <p:nvPr/>
        </p:nvSpPr>
        <p:spPr>
          <a:xfrm>
            <a:off x="609600" y="1168400"/>
            <a:ext cx="1079500" cy="63500"/>
          </a:xfrm>
          <a:prstGeom prst="rect">
            <a:avLst/>
          </a:prstGeom>
          <a:solidFill>
            <a:srgbClr val="FFE600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5" name="Yuvarlatılmış Dikdörtgen 4"/>
          <p:cNvSpPr/>
          <p:nvPr/>
        </p:nvSpPr>
        <p:spPr>
          <a:xfrm>
            <a:off x="711200" y="1524000"/>
            <a:ext cx="4762500" cy="3556000"/>
          </a:xfrm>
          <a:prstGeom prst="roundRect">
            <a:avLst/>
          </a:prstGeom>
          <a:solidFill>
            <a:srgbClr val="F4F6FA"/>
          </a:solidFill>
          <a:ln w="9525">
            <a:solidFill>
              <a:srgbClr val="D9DEE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63500" rIns="101600" bIns="63500" rtlCol="0" anchor="ctr"/>
          <a:lstStyle/>
          <a:p>
            <a:r>
              <a:rPr lang="tr-TR" sz="1500" smtClean="0">
                <a:solidFill>
                  <a:srgbClr val="172033"/>
                </a:solidFill>
                <a:latin typeface="Calibri"/>
              </a:rPr>
              <a:t>Bugünkü ihtiyaç</a:t>
            </a:r>
          </a:p>
          <a:p>
            <a:r>
              <a:rPr lang="tr-TR" sz="1500" smtClean="0">
                <a:solidFill>
                  <a:srgbClr val="172033"/>
                </a:solidFill>
                <a:latin typeface="Calibri"/>
              </a:rPr>
              <a:t>Şube ve merkez operasyonlarında bilgi dağınıklığı, manuel takip, yetki karmaşası ve rapora geç ulaşma problemi var.</a:t>
            </a:r>
          </a:p>
          <a:p>
            <a:endParaRPr lang="tr-TR" sz="1500" smtClean="0">
              <a:solidFill>
                <a:srgbClr val="172033"/>
              </a:solidFill>
              <a:latin typeface="Calibri"/>
            </a:endParaRPr>
          </a:p>
          <a:p>
            <a:r>
              <a:rPr lang="tr-TR" sz="1500" smtClean="0">
                <a:solidFill>
                  <a:srgbClr val="172033"/>
                </a:solidFill>
                <a:latin typeface="Calibri"/>
              </a:rPr>
              <a:t>Proje hedefi</a:t>
            </a:r>
          </a:p>
          <a:p>
            <a:r>
              <a:rPr lang="tr-TR" sz="1500" smtClean="0">
                <a:solidFill>
                  <a:srgbClr val="172033"/>
                </a:solidFill>
                <a:latin typeface="Calibri"/>
              </a:rPr>
              <a:t>Siparişten kasaya, stoktan e-belgeye kadar kritik işlerin tek ekrandan, doğru kullanıcıya doğru yetkiyle sunulması.</a:t>
            </a:r>
            <a:endParaRPr lang="tr-TR" sz="1500">
              <a:solidFill>
                <a:srgbClr val="172033"/>
              </a:solidFill>
              <a:latin typeface="Calibri"/>
            </a:endParaRPr>
          </a:p>
        </p:txBody>
      </p:sp>
      <p:sp>
        <p:nvSpPr>
          <p:cNvPr id="6" name="Yuvarlatılmış Dikdörtgen 5"/>
          <p:cNvSpPr/>
          <p:nvPr/>
        </p:nvSpPr>
        <p:spPr>
          <a:xfrm>
            <a:off x="5867400" y="1574800"/>
            <a:ext cx="2540000" cy="1168400"/>
          </a:xfrm>
          <a:prstGeom prst="roundRect">
            <a:avLst/>
          </a:prstGeom>
          <a:solidFill>
            <a:srgbClr val="EAF0FF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63500" rIns="101600" bIns="63500" rtlCol="0" anchor="ctr"/>
          <a:lstStyle/>
          <a:p>
            <a:r>
              <a:rPr lang="tr-TR" sz="1300" b="1" smtClean="0">
                <a:solidFill>
                  <a:srgbClr val="17226B"/>
                </a:solidFill>
                <a:latin typeface="Calibri"/>
              </a:rPr>
              <a:t>Kontrol</a:t>
            </a:r>
          </a:p>
          <a:p>
            <a:r>
              <a:rPr lang="tr-TR" sz="1300" b="1" smtClean="0">
                <a:solidFill>
                  <a:srgbClr val="17226B"/>
                </a:solidFill>
                <a:latin typeface="Calibri"/>
              </a:rPr>
              <a:t>Kimin hangi ekrana ve aksiyona eriştiği netleşir.</a:t>
            </a:r>
            <a:endParaRPr lang="tr-TR" sz="1300" b="1">
              <a:solidFill>
                <a:srgbClr val="17226B"/>
              </a:solidFill>
              <a:latin typeface="Calibri"/>
            </a:endParaRPr>
          </a:p>
        </p:txBody>
      </p:sp>
      <p:sp>
        <p:nvSpPr>
          <p:cNvPr id="7" name="Yuvarlatılmış Dikdörtgen 6"/>
          <p:cNvSpPr/>
          <p:nvPr/>
        </p:nvSpPr>
        <p:spPr>
          <a:xfrm>
            <a:off x="8737600" y="1574800"/>
            <a:ext cx="2540000" cy="1168400"/>
          </a:xfrm>
          <a:prstGeom prst="roundRect">
            <a:avLst/>
          </a:prstGeom>
          <a:solidFill>
            <a:srgbClr val="E7F6EE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63500" rIns="101600" bIns="63500" rtlCol="0" anchor="ctr"/>
          <a:lstStyle/>
          <a:p>
            <a:r>
              <a:rPr lang="tr-TR" sz="1300" b="1" smtClean="0">
                <a:solidFill>
                  <a:srgbClr val="0D8A3A"/>
                </a:solidFill>
                <a:latin typeface="Calibri"/>
              </a:rPr>
              <a:t>Hız</a:t>
            </a:r>
          </a:p>
          <a:p>
            <a:r>
              <a:rPr lang="tr-TR" sz="1300" b="1" smtClean="0">
                <a:solidFill>
                  <a:srgbClr val="0D8A3A"/>
                </a:solidFill>
                <a:latin typeface="Calibri"/>
              </a:rPr>
              <a:t>Liste, detay ve oluşturma işlemleri aynı akışta ilerler.</a:t>
            </a:r>
            <a:endParaRPr lang="tr-TR" sz="1300" b="1">
              <a:solidFill>
                <a:srgbClr val="0D8A3A"/>
              </a:solidFill>
              <a:latin typeface="Calibri"/>
            </a:endParaRPr>
          </a:p>
        </p:txBody>
      </p:sp>
      <p:sp>
        <p:nvSpPr>
          <p:cNvPr id="8" name="Yuvarlatılmış Dikdörtgen 7"/>
          <p:cNvSpPr/>
          <p:nvPr/>
        </p:nvSpPr>
        <p:spPr>
          <a:xfrm>
            <a:off x="5867400" y="3505200"/>
            <a:ext cx="2540000" cy="1168400"/>
          </a:xfrm>
          <a:prstGeom prst="roundRect">
            <a:avLst/>
          </a:prstGeom>
          <a:solidFill>
            <a:srgbClr val="FFF8CC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63500" rIns="101600" bIns="63500" rtlCol="0" anchor="ctr"/>
          <a:lstStyle/>
          <a:p>
            <a:r>
              <a:rPr lang="tr-TR" sz="1300" b="1" smtClean="0">
                <a:solidFill>
                  <a:srgbClr val="17226B"/>
                </a:solidFill>
                <a:latin typeface="Calibri"/>
              </a:rPr>
              <a:t>Görünürlük</a:t>
            </a:r>
          </a:p>
          <a:p>
            <a:r>
              <a:rPr lang="tr-TR" sz="1300" b="1" smtClean="0">
                <a:solidFill>
                  <a:srgbClr val="17226B"/>
                </a:solidFill>
                <a:latin typeface="Calibri"/>
              </a:rPr>
              <a:t>Rapor, analiz ve aktarım sonuçları merkezden izlenir.</a:t>
            </a:r>
            <a:endParaRPr lang="tr-TR" sz="1300" b="1">
              <a:solidFill>
                <a:srgbClr val="17226B"/>
              </a:solidFill>
              <a:latin typeface="Calibri"/>
            </a:endParaRPr>
          </a:p>
        </p:txBody>
      </p:sp>
      <p:sp>
        <p:nvSpPr>
          <p:cNvPr id="9" name="Yuvarlatılmış Dikdörtgen 8"/>
          <p:cNvSpPr/>
          <p:nvPr/>
        </p:nvSpPr>
        <p:spPr>
          <a:xfrm>
            <a:off x="8737600" y="3505200"/>
            <a:ext cx="2540000" cy="1168400"/>
          </a:xfrm>
          <a:prstGeom prst="roundRect">
            <a:avLst/>
          </a:prstGeom>
          <a:solidFill>
            <a:srgbClr val="FCE8E6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63500" rIns="101600" bIns="63500" rtlCol="0" anchor="ctr"/>
          <a:lstStyle/>
          <a:p>
            <a:r>
              <a:rPr lang="tr-TR" sz="1300" b="1" smtClean="0">
                <a:solidFill>
                  <a:srgbClr val="C62828"/>
                </a:solidFill>
                <a:latin typeface="Calibri"/>
              </a:rPr>
              <a:t>İzlenebilirlik</a:t>
            </a:r>
          </a:p>
          <a:p>
            <a:r>
              <a:rPr lang="tr-TR" sz="1300" b="1" smtClean="0">
                <a:solidFill>
                  <a:srgbClr val="C62828"/>
                </a:solidFill>
                <a:latin typeface="Calibri"/>
              </a:rPr>
              <a:t>Belge, kasa, etiket, iade ve entegrasyon akışları takip edilir.</a:t>
            </a:r>
            <a:endParaRPr lang="tr-TR" sz="1300" b="1">
              <a:solidFill>
                <a:srgbClr val="C62828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065720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etin kutusu 1"/>
          <p:cNvSpPr txBox="1"/>
          <p:nvPr/>
        </p:nvSpPr>
        <p:spPr>
          <a:xfrm>
            <a:off x="584200" y="330200"/>
            <a:ext cx="8128000" cy="512961"/>
          </a:xfrm>
          <a:prstGeom prst="rect">
            <a:avLst/>
          </a:prstGeom>
          <a:noFill/>
        </p:spPr>
        <p:txBody>
          <a:bodyPr vert="horz" wrap="square" lIns="101600" tIns="63500" rIns="101600" bIns="63500" rtlCol="0">
            <a:spAutoFit/>
          </a:bodyPr>
          <a:lstStyle/>
          <a:p>
            <a:r>
              <a:rPr lang="tr-TR" sz="2500" b="1" smtClean="0">
                <a:solidFill>
                  <a:srgbClr val="172033"/>
                </a:solidFill>
                <a:latin typeface="Calibri"/>
              </a:rPr>
              <a:t>Kapsam Haritası</a:t>
            </a:r>
            <a:endParaRPr lang="tr-TR" sz="2500" b="1">
              <a:solidFill>
                <a:srgbClr val="172033"/>
              </a:solidFill>
              <a:latin typeface="Calibri"/>
            </a:endParaRPr>
          </a:p>
        </p:txBody>
      </p:sp>
      <p:sp>
        <p:nvSpPr>
          <p:cNvPr id="3" name="Metin kutusu 2"/>
          <p:cNvSpPr txBox="1"/>
          <p:nvPr/>
        </p:nvSpPr>
        <p:spPr>
          <a:xfrm>
            <a:off x="609600" y="774700"/>
            <a:ext cx="8953500" cy="266740"/>
          </a:xfrm>
          <a:prstGeom prst="rect">
            <a:avLst/>
          </a:prstGeom>
          <a:noFill/>
        </p:spPr>
        <p:txBody>
          <a:bodyPr vert="horz" wrap="square" lIns="101600" tIns="63500" rIns="101600" bIns="63500" rtlCol="0">
            <a:spAutoFit/>
          </a:bodyPr>
          <a:lstStyle/>
          <a:p>
            <a:r>
              <a:rPr lang="tr-TR" sz="900" smtClean="0">
                <a:solidFill>
                  <a:srgbClr val="667085"/>
                </a:solidFill>
                <a:latin typeface="Calibri"/>
              </a:rPr>
              <a:t>Projenin kapsadığı ana iş alanları</a:t>
            </a:r>
            <a:endParaRPr lang="tr-TR" sz="900">
              <a:solidFill>
                <a:srgbClr val="667085"/>
              </a:solidFill>
              <a:latin typeface="Calibri"/>
            </a:endParaRPr>
          </a:p>
        </p:txBody>
      </p:sp>
      <p:sp>
        <p:nvSpPr>
          <p:cNvPr id="4" name="Dikdörtgen 3"/>
          <p:cNvSpPr/>
          <p:nvPr/>
        </p:nvSpPr>
        <p:spPr>
          <a:xfrm>
            <a:off x="609600" y="1168400"/>
            <a:ext cx="1079500" cy="63500"/>
          </a:xfrm>
          <a:prstGeom prst="rect">
            <a:avLst/>
          </a:prstGeom>
          <a:solidFill>
            <a:srgbClr val="FFE600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5" name="Yuvarlatılmış Dikdörtgen 4"/>
          <p:cNvSpPr/>
          <p:nvPr/>
        </p:nvSpPr>
        <p:spPr>
          <a:xfrm>
            <a:off x="660400" y="1422400"/>
            <a:ext cx="4978400" cy="863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EE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63500" rIns="101600" bIns="63500" rtlCol="0" anchor="ctr"/>
          <a:lstStyle/>
          <a:p>
            <a:r>
              <a:rPr lang="tr-TR" sz="1300" b="1" smtClean="0">
                <a:solidFill>
                  <a:srgbClr val="17226B"/>
                </a:solidFill>
                <a:latin typeface="Calibri"/>
              </a:rPr>
              <a:t>Sipariş</a:t>
            </a:r>
          </a:p>
          <a:p>
            <a:r>
              <a:rPr lang="tr-TR" sz="1300" b="1" smtClean="0">
                <a:solidFill>
                  <a:srgbClr val="17226B"/>
                </a:solidFill>
                <a:latin typeface="Calibri"/>
              </a:rPr>
              <a:t>Alınan/verilen firma ve depo siparişleri, önerilen siparişler</a:t>
            </a:r>
            <a:endParaRPr lang="tr-TR" sz="1300" b="1">
              <a:solidFill>
                <a:srgbClr val="17226B"/>
              </a:solidFill>
              <a:latin typeface="Calibri"/>
            </a:endParaRPr>
          </a:p>
        </p:txBody>
      </p:sp>
      <p:sp>
        <p:nvSpPr>
          <p:cNvPr id="6" name="Yuvarlatılmış Dikdörtgen 5"/>
          <p:cNvSpPr/>
          <p:nvPr/>
        </p:nvSpPr>
        <p:spPr>
          <a:xfrm>
            <a:off x="6146800" y="1422400"/>
            <a:ext cx="4978400" cy="863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EE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63500" rIns="101600" bIns="63500" rtlCol="0" anchor="ctr"/>
          <a:lstStyle/>
          <a:p>
            <a:r>
              <a:rPr lang="es-ES" sz="1300" b="1" smtClean="0">
                <a:solidFill>
                  <a:srgbClr val="17226B"/>
                </a:solidFill>
                <a:latin typeface="Calibri"/>
              </a:rPr>
              <a:t>Mal Kabul</a:t>
            </a:r>
          </a:p>
          <a:p>
            <a:r>
              <a:rPr lang="es-ES" sz="1300" b="1" smtClean="0">
                <a:solidFill>
                  <a:srgbClr val="17226B"/>
                </a:solidFill>
                <a:latin typeface="Calibri"/>
              </a:rPr>
              <a:t>Firma, depo ve kabul farkları</a:t>
            </a:r>
            <a:endParaRPr lang="tr-TR" sz="1300" b="1">
              <a:solidFill>
                <a:srgbClr val="17226B"/>
              </a:solidFill>
              <a:latin typeface="Calibri"/>
            </a:endParaRPr>
          </a:p>
        </p:txBody>
      </p:sp>
      <p:sp>
        <p:nvSpPr>
          <p:cNvPr id="7" name="Yuvarlatılmış Dikdörtgen 6"/>
          <p:cNvSpPr/>
          <p:nvPr/>
        </p:nvSpPr>
        <p:spPr>
          <a:xfrm>
            <a:off x="660400" y="2590800"/>
            <a:ext cx="4978400" cy="863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EE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63500" rIns="101600" bIns="63500" rtlCol="0" anchor="ctr"/>
          <a:lstStyle/>
          <a:p>
            <a:r>
              <a:rPr lang="tr-TR" sz="1300" b="1" smtClean="0">
                <a:solidFill>
                  <a:srgbClr val="17226B"/>
                </a:solidFill>
                <a:latin typeface="Calibri"/>
              </a:rPr>
              <a:t>Sevkiyat</a:t>
            </a:r>
          </a:p>
          <a:p>
            <a:r>
              <a:rPr lang="tr-TR" sz="1300" b="1" smtClean="0">
                <a:solidFill>
                  <a:srgbClr val="17226B"/>
                </a:solidFill>
                <a:latin typeface="Calibri"/>
              </a:rPr>
              <a:t>Firma ve depolar arası sevk akışları</a:t>
            </a:r>
            <a:endParaRPr lang="tr-TR" sz="1300" b="1">
              <a:solidFill>
                <a:srgbClr val="17226B"/>
              </a:solidFill>
              <a:latin typeface="Calibri"/>
            </a:endParaRPr>
          </a:p>
        </p:txBody>
      </p:sp>
      <p:sp>
        <p:nvSpPr>
          <p:cNvPr id="8" name="Yuvarlatılmış Dikdörtgen 7"/>
          <p:cNvSpPr/>
          <p:nvPr/>
        </p:nvSpPr>
        <p:spPr>
          <a:xfrm>
            <a:off x="6146800" y="2590800"/>
            <a:ext cx="4978400" cy="863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EE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63500" rIns="101600" bIns="63500" rtlCol="0" anchor="ctr"/>
          <a:lstStyle/>
          <a:p>
            <a:r>
              <a:rPr lang="tr-TR" sz="1300" b="1" smtClean="0">
                <a:solidFill>
                  <a:srgbClr val="17226B"/>
                </a:solidFill>
                <a:latin typeface="Calibri"/>
              </a:rPr>
              <a:t>Stok ve Sayım</a:t>
            </a:r>
          </a:p>
          <a:p>
            <a:r>
              <a:rPr lang="tr-TR" sz="1300" b="1" smtClean="0">
                <a:solidFill>
                  <a:srgbClr val="17226B"/>
                </a:solidFill>
                <a:latin typeface="Calibri"/>
              </a:rPr>
              <a:t>Virman, zayiat, masraf, sayım ve anomali merkezi</a:t>
            </a:r>
            <a:endParaRPr lang="tr-TR" sz="1300" b="1">
              <a:solidFill>
                <a:srgbClr val="17226B"/>
              </a:solidFill>
              <a:latin typeface="Calibri"/>
            </a:endParaRPr>
          </a:p>
        </p:txBody>
      </p:sp>
      <p:sp>
        <p:nvSpPr>
          <p:cNvPr id="9" name="Yuvarlatılmış Dikdörtgen 8"/>
          <p:cNvSpPr/>
          <p:nvPr/>
        </p:nvSpPr>
        <p:spPr>
          <a:xfrm>
            <a:off x="660400" y="3759200"/>
            <a:ext cx="4978400" cy="863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EE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63500" rIns="101600" bIns="63500" rtlCol="0" anchor="ctr"/>
          <a:lstStyle/>
          <a:p>
            <a:r>
              <a:rPr lang="tr-TR" sz="1300" b="1" smtClean="0">
                <a:solidFill>
                  <a:srgbClr val="17226B"/>
                </a:solidFill>
                <a:latin typeface="Calibri"/>
              </a:rPr>
              <a:t>Kasa ve Etiket</a:t>
            </a:r>
          </a:p>
          <a:p>
            <a:r>
              <a:rPr lang="tr-TR" sz="1300" b="1" smtClean="0">
                <a:solidFill>
                  <a:srgbClr val="17226B"/>
                </a:solidFill>
                <a:latin typeface="Calibri"/>
              </a:rPr>
              <a:t>Kasa sayımı, ciro, analiz, etiket ve dosya gönderimi</a:t>
            </a:r>
            <a:endParaRPr lang="tr-TR" sz="1300" b="1">
              <a:solidFill>
                <a:srgbClr val="17226B"/>
              </a:solidFill>
              <a:latin typeface="Calibri"/>
            </a:endParaRPr>
          </a:p>
        </p:txBody>
      </p:sp>
      <p:sp>
        <p:nvSpPr>
          <p:cNvPr id="10" name="Yuvarlatılmış Dikdörtgen 9"/>
          <p:cNvSpPr/>
          <p:nvPr/>
        </p:nvSpPr>
        <p:spPr>
          <a:xfrm>
            <a:off x="6146800" y="3759200"/>
            <a:ext cx="4978400" cy="863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EE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63500" rIns="101600" bIns="63500" rtlCol="0" anchor="ctr"/>
          <a:lstStyle/>
          <a:p>
            <a:r>
              <a:rPr lang="tr-TR" sz="1300" b="1" smtClean="0">
                <a:solidFill>
                  <a:srgbClr val="17226B"/>
                </a:solidFill>
                <a:latin typeface="Calibri"/>
              </a:rPr>
              <a:t>Rapor ve Analiz</a:t>
            </a:r>
          </a:p>
          <a:p>
            <a:r>
              <a:rPr lang="tr-TR" sz="1300" b="1" smtClean="0">
                <a:solidFill>
                  <a:srgbClr val="17226B"/>
                </a:solidFill>
                <a:latin typeface="Calibri"/>
              </a:rPr>
              <a:t>Satış, stok, promosyon ve tedarikçi performansı</a:t>
            </a:r>
            <a:endParaRPr lang="tr-TR" sz="1300" b="1">
              <a:solidFill>
                <a:srgbClr val="17226B"/>
              </a:solidFill>
              <a:latin typeface="Calibri"/>
            </a:endParaRPr>
          </a:p>
        </p:txBody>
      </p:sp>
      <p:sp>
        <p:nvSpPr>
          <p:cNvPr id="11" name="Yuvarlatılmış Dikdörtgen 10"/>
          <p:cNvSpPr/>
          <p:nvPr/>
        </p:nvSpPr>
        <p:spPr>
          <a:xfrm>
            <a:off x="660400" y="4927600"/>
            <a:ext cx="4978400" cy="863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EE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63500" rIns="101600" bIns="63500" rtlCol="0" anchor="ctr"/>
          <a:lstStyle/>
          <a:p>
            <a:r>
              <a:rPr lang="tr-TR" sz="1300" b="1" smtClean="0">
                <a:solidFill>
                  <a:srgbClr val="17226B"/>
                </a:solidFill>
                <a:latin typeface="Calibri"/>
              </a:rPr>
              <a:t>Entegrasyon</a:t>
            </a:r>
          </a:p>
          <a:p>
            <a:r>
              <a:rPr lang="tr-TR" sz="1300" b="1" smtClean="0">
                <a:solidFill>
                  <a:srgbClr val="17226B"/>
                </a:solidFill>
                <a:latin typeface="Calibri"/>
              </a:rPr>
              <a:t>Axata, POS muhasebe, Uyumsoft e-fatura/e-irsaliye</a:t>
            </a:r>
            <a:endParaRPr lang="tr-TR" sz="1300" b="1">
              <a:solidFill>
                <a:srgbClr val="17226B"/>
              </a:solidFill>
              <a:latin typeface="Calibri"/>
            </a:endParaRPr>
          </a:p>
        </p:txBody>
      </p:sp>
      <p:sp>
        <p:nvSpPr>
          <p:cNvPr id="12" name="Yuvarlatılmış Dikdörtgen 11"/>
          <p:cNvSpPr/>
          <p:nvPr/>
        </p:nvSpPr>
        <p:spPr>
          <a:xfrm>
            <a:off x="6146800" y="4927600"/>
            <a:ext cx="4978400" cy="863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EE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63500" rIns="101600" bIns="63500" rtlCol="0" anchor="ctr"/>
          <a:lstStyle/>
          <a:p>
            <a:r>
              <a:rPr lang="tr-TR" sz="1300" b="1" smtClean="0">
                <a:solidFill>
                  <a:srgbClr val="17226B"/>
                </a:solidFill>
                <a:latin typeface="Calibri"/>
              </a:rPr>
              <a:t>Yönetim</a:t>
            </a:r>
          </a:p>
          <a:p>
            <a:r>
              <a:rPr lang="tr-TR" sz="1300" b="1" smtClean="0">
                <a:solidFill>
                  <a:srgbClr val="17226B"/>
                </a:solidFill>
                <a:latin typeface="Calibri"/>
              </a:rPr>
              <a:t>Kullanıcı, rol, yetki, cihaz ve şube ayarları</a:t>
            </a:r>
            <a:endParaRPr lang="tr-TR" sz="1300" b="1">
              <a:solidFill>
                <a:srgbClr val="17226B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517154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etin kutusu 1"/>
          <p:cNvSpPr txBox="1"/>
          <p:nvPr/>
        </p:nvSpPr>
        <p:spPr>
          <a:xfrm>
            <a:off x="584200" y="330200"/>
            <a:ext cx="8128000" cy="512961"/>
          </a:xfrm>
          <a:prstGeom prst="rect">
            <a:avLst/>
          </a:prstGeom>
          <a:noFill/>
        </p:spPr>
        <p:txBody>
          <a:bodyPr vert="horz" wrap="square" lIns="101600" tIns="63500" rIns="101600" bIns="63500" rtlCol="0">
            <a:spAutoFit/>
          </a:bodyPr>
          <a:lstStyle/>
          <a:p>
            <a:r>
              <a:rPr lang="tr-TR" sz="2500" b="1" smtClean="0">
                <a:solidFill>
                  <a:srgbClr val="172033"/>
                </a:solidFill>
                <a:latin typeface="Calibri"/>
              </a:rPr>
              <a:t>Öne Çıkan Akışlar</a:t>
            </a:r>
            <a:endParaRPr lang="tr-TR" sz="2500" b="1">
              <a:solidFill>
                <a:srgbClr val="172033"/>
              </a:solidFill>
              <a:latin typeface="Calibri"/>
            </a:endParaRPr>
          </a:p>
        </p:txBody>
      </p:sp>
      <p:sp>
        <p:nvSpPr>
          <p:cNvPr id="3" name="Metin kutusu 2"/>
          <p:cNvSpPr txBox="1"/>
          <p:nvPr/>
        </p:nvSpPr>
        <p:spPr>
          <a:xfrm>
            <a:off x="609600" y="774700"/>
            <a:ext cx="8953500" cy="266740"/>
          </a:xfrm>
          <a:prstGeom prst="rect">
            <a:avLst/>
          </a:prstGeom>
          <a:noFill/>
        </p:spPr>
        <p:txBody>
          <a:bodyPr vert="horz" wrap="square" lIns="101600" tIns="63500" rIns="101600" bIns="63500" rtlCol="0">
            <a:spAutoFit/>
          </a:bodyPr>
          <a:lstStyle/>
          <a:p>
            <a:r>
              <a:rPr lang="tr-TR" sz="900" smtClean="0">
                <a:solidFill>
                  <a:srgbClr val="667085"/>
                </a:solidFill>
                <a:latin typeface="Calibri"/>
              </a:rPr>
              <a:t>Kullanıcının günlük işini doğrudan hızlandıran ekranlar</a:t>
            </a:r>
            <a:endParaRPr lang="tr-TR" sz="900">
              <a:solidFill>
                <a:srgbClr val="667085"/>
              </a:solidFill>
              <a:latin typeface="Calibri"/>
            </a:endParaRPr>
          </a:p>
        </p:txBody>
      </p:sp>
      <p:sp>
        <p:nvSpPr>
          <p:cNvPr id="4" name="Dikdörtgen 3"/>
          <p:cNvSpPr/>
          <p:nvPr/>
        </p:nvSpPr>
        <p:spPr>
          <a:xfrm>
            <a:off x="609600" y="1168400"/>
            <a:ext cx="1079500" cy="63500"/>
          </a:xfrm>
          <a:prstGeom prst="rect">
            <a:avLst/>
          </a:prstGeom>
          <a:solidFill>
            <a:srgbClr val="FFE600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5" name="Metin kutusu 4"/>
          <p:cNvSpPr txBox="1"/>
          <p:nvPr/>
        </p:nvSpPr>
        <p:spPr>
          <a:xfrm>
            <a:off x="787400" y="1447800"/>
            <a:ext cx="9652000" cy="1328569"/>
          </a:xfrm>
          <a:prstGeom prst="rect">
            <a:avLst/>
          </a:prstGeom>
          <a:noFill/>
        </p:spPr>
        <p:txBody>
          <a:bodyPr vert="horz" wrap="square" lIns="101600" tIns="63500" rIns="101600" bIns="63500" rtlCol="0">
            <a:spAutoFit/>
          </a:bodyPr>
          <a:lstStyle/>
          <a:p>
            <a:r>
              <a:rPr lang="tr-TR" sz="1300" smtClean="0">
                <a:solidFill>
                  <a:srgbClr val="172033"/>
                </a:solidFill>
                <a:latin typeface="Calibri"/>
              </a:rPr>
              <a:t>- Liste, Detay, Oluşturma: Sipariş, sevk, mal kabul, iade, sayım ve kullanıcı işlemlerinde standart akış.</a:t>
            </a:r>
          </a:p>
          <a:p>
            <a:r>
              <a:rPr lang="tr-TR" sz="1300" smtClean="0">
                <a:solidFill>
                  <a:srgbClr val="172033"/>
                </a:solidFill>
                <a:latin typeface="Calibri"/>
              </a:rPr>
              <a:t>- Etiket ve Yazdırma: Raf etiketi, künye, manav künye, A4/A5 baskı ve fiyat değişim listeleri.</a:t>
            </a:r>
          </a:p>
          <a:p>
            <a:r>
              <a:rPr lang="tr-TR" sz="1300" smtClean="0">
                <a:solidFill>
                  <a:srgbClr val="172033"/>
                </a:solidFill>
                <a:latin typeface="Calibri"/>
              </a:rPr>
              <a:t>- Kasa Operasyonları: Kasa sayımı, banknot takibi, ciro aktarımı, hareket aktarımı ve yeni kasa analizleri.</a:t>
            </a:r>
          </a:p>
          <a:p>
            <a:r>
              <a:rPr lang="tr-TR" sz="1300" smtClean="0">
                <a:solidFill>
                  <a:srgbClr val="172033"/>
                </a:solidFill>
                <a:latin typeface="Calibri"/>
              </a:rPr>
              <a:t>- E-Belge Yönetimi: Fatura görüntüleme/gönderim, PDF/render, Uyumsoft e-fatura ve e-irsaliye akışları.</a:t>
            </a:r>
          </a:p>
          <a:p>
            <a:r>
              <a:rPr lang="tr-TR" sz="1300" smtClean="0">
                <a:solidFill>
                  <a:srgbClr val="172033"/>
                </a:solidFill>
                <a:latin typeface="Calibri"/>
              </a:rPr>
              <a:t>- Raporlama: Stok, satış, promosyon, tedarikçi performansı ve yeşillik/manav raporları.</a:t>
            </a:r>
          </a:p>
          <a:p>
            <a:r>
              <a:rPr lang="tr-TR" sz="1300" smtClean="0">
                <a:solidFill>
                  <a:srgbClr val="172033"/>
                </a:solidFill>
                <a:latin typeface="Calibri"/>
              </a:rPr>
              <a:t>- Geri Bildirim: Şikayet/öneri kaydı, geçmiş takibi, yönetim notu ve durum güncelleme.</a:t>
            </a:r>
            <a:endParaRPr lang="tr-TR" sz="1300">
              <a:solidFill>
                <a:srgbClr val="172033"/>
              </a:solidFill>
              <a:latin typeface="Calibri"/>
            </a:endParaRPr>
          </a:p>
        </p:txBody>
      </p:sp>
      <p:pic>
        <p:nvPicPr>
          <p:cNvPr id="6" name="Resim 5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3000" y="5207000"/>
            <a:ext cx="2413000" cy="88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96726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etin kutusu 1"/>
          <p:cNvSpPr txBox="1"/>
          <p:nvPr/>
        </p:nvSpPr>
        <p:spPr>
          <a:xfrm>
            <a:off x="584200" y="330200"/>
            <a:ext cx="8128000" cy="512961"/>
          </a:xfrm>
          <a:prstGeom prst="rect">
            <a:avLst/>
          </a:prstGeom>
          <a:noFill/>
        </p:spPr>
        <p:txBody>
          <a:bodyPr vert="horz" wrap="square" lIns="101600" tIns="63500" rIns="101600" bIns="63500" rtlCol="0">
            <a:spAutoFit/>
          </a:bodyPr>
          <a:lstStyle/>
          <a:p>
            <a:r>
              <a:rPr lang="tr-TR" sz="2500" b="1" smtClean="0">
                <a:solidFill>
                  <a:srgbClr val="172033"/>
                </a:solidFill>
                <a:latin typeface="Calibri"/>
              </a:rPr>
              <a:t>Teknik Mimari</a:t>
            </a:r>
            <a:endParaRPr lang="tr-TR" sz="2500" b="1">
              <a:solidFill>
                <a:srgbClr val="172033"/>
              </a:solidFill>
              <a:latin typeface="Calibri"/>
            </a:endParaRPr>
          </a:p>
        </p:txBody>
      </p:sp>
      <p:sp>
        <p:nvSpPr>
          <p:cNvPr id="3" name="Metin kutusu 2"/>
          <p:cNvSpPr txBox="1"/>
          <p:nvPr/>
        </p:nvSpPr>
        <p:spPr>
          <a:xfrm>
            <a:off x="609600" y="774700"/>
            <a:ext cx="8953500" cy="266740"/>
          </a:xfrm>
          <a:prstGeom prst="rect">
            <a:avLst/>
          </a:prstGeom>
          <a:noFill/>
        </p:spPr>
        <p:txBody>
          <a:bodyPr vert="horz" wrap="square" lIns="101600" tIns="63500" rIns="101600" bIns="63500" rtlCol="0">
            <a:spAutoFit/>
          </a:bodyPr>
          <a:lstStyle/>
          <a:p>
            <a:r>
              <a:rPr lang="tr-TR" sz="900" smtClean="0">
                <a:solidFill>
                  <a:srgbClr val="667085"/>
                </a:solidFill>
                <a:latin typeface="Calibri"/>
              </a:rPr>
              <a:t>Sadeleştirilmiş akış</a:t>
            </a:r>
            <a:endParaRPr lang="tr-TR" sz="900">
              <a:solidFill>
                <a:srgbClr val="667085"/>
              </a:solidFill>
              <a:latin typeface="Calibri"/>
            </a:endParaRPr>
          </a:p>
        </p:txBody>
      </p:sp>
      <p:sp>
        <p:nvSpPr>
          <p:cNvPr id="4" name="Dikdörtgen 3"/>
          <p:cNvSpPr/>
          <p:nvPr/>
        </p:nvSpPr>
        <p:spPr>
          <a:xfrm>
            <a:off x="609600" y="1168400"/>
            <a:ext cx="1079500" cy="63500"/>
          </a:xfrm>
          <a:prstGeom prst="rect">
            <a:avLst/>
          </a:prstGeom>
          <a:solidFill>
            <a:srgbClr val="FFE600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5" name="Yuvarlatılmış Dikdörtgen 4"/>
          <p:cNvSpPr/>
          <p:nvPr/>
        </p:nvSpPr>
        <p:spPr>
          <a:xfrm>
            <a:off x="736600" y="2260600"/>
            <a:ext cx="1752600" cy="990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EE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63500" rIns="101600" bIns="63500" rtlCol="0" anchor="ctr"/>
          <a:lstStyle/>
          <a:p>
            <a:pPr algn="ctr"/>
            <a:r>
              <a:rPr lang="tr-TR" sz="1200" b="1" smtClean="0">
                <a:solidFill>
                  <a:srgbClr val="17226B"/>
                </a:solidFill>
                <a:latin typeface="Calibri"/>
              </a:rPr>
              <a:t>Kullanıcı</a:t>
            </a:r>
          </a:p>
          <a:p>
            <a:pPr algn="ctr"/>
            <a:r>
              <a:rPr lang="tr-TR" sz="1200" b="1" smtClean="0">
                <a:solidFill>
                  <a:srgbClr val="17226B"/>
                </a:solidFill>
                <a:latin typeface="Calibri"/>
              </a:rPr>
              <a:t>Şube / merkez personeli</a:t>
            </a:r>
            <a:endParaRPr lang="tr-TR" sz="1200" b="1">
              <a:solidFill>
                <a:srgbClr val="17226B"/>
              </a:solidFill>
              <a:latin typeface="Calibri"/>
            </a:endParaRPr>
          </a:p>
        </p:txBody>
      </p:sp>
      <p:sp>
        <p:nvSpPr>
          <p:cNvPr id="6" name="Metin kutusu 5"/>
          <p:cNvSpPr txBox="1"/>
          <p:nvPr/>
        </p:nvSpPr>
        <p:spPr>
          <a:xfrm>
            <a:off x="2578100" y="2540000"/>
            <a:ext cx="381000" cy="466794"/>
          </a:xfrm>
          <a:prstGeom prst="rect">
            <a:avLst/>
          </a:prstGeom>
          <a:noFill/>
        </p:spPr>
        <p:txBody>
          <a:bodyPr vert="horz" wrap="square" lIns="101600" tIns="63500" rIns="101600" bIns="63500" rtlCol="0">
            <a:spAutoFit/>
          </a:bodyPr>
          <a:lstStyle/>
          <a:p>
            <a:pPr algn="ctr"/>
            <a:r>
              <a:rPr lang="tr-TR" sz="2200" b="1" smtClean="0">
                <a:solidFill>
                  <a:srgbClr val="17226B"/>
                </a:solidFill>
                <a:latin typeface="Calibri"/>
              </a:rPr>
              <a:t>&gt;</a:t>
            </a:r>
            <a:endParaRPr lang="tr-TR" sz="2200" b="1">
              <a:solidFill>
                <a:srgbClr val="17226B"/>
              </a:solidFill>
              <a:latin typeface="Calibri"/>
            </a:endParaRPr>
          </a:p>
        </p:txBody>
      </p:sp>
      <p:sp>
        <p:nvSpPr>
          <p:cNvPr id="7" name="Yuvarlatılmış Dikdörtgen 6"/>
          <p:cNvSpPr/>
          <p:nvPr/>
        </p:nvSpPr>
        <p:spPr>
          <a:xfrm>
            <a:off x="2921000" y="2260600"/>
            <a:ext cx="1752600" cy="990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EE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63500" rIns="101600" bIns="63500" rtlCol="0" anchor="ctr"/>
          <a:lstStyle/>
          <a:p>
            <a:pPr algn="ctr"/>
            <a:r>
              <a:rPr lang="tr-TR" sz="1200" b="1" smtClean="0">
                <a:solidFill>
                  <a:srgbClr val="17226B"/>
                </a:solidFill>
                <a:latin typeface="Calibri"/>
              </a:rPr>
              <a:t>Angular 20 UI</a:t>
            </a:r>
          </a:p>
          <a:p>
            <a:pPr algn="ctr"/>
            <a:r>
              <a:rPr lang="tr-TR" sz="1200" b="1" smtClean="0">
                <a:solidFill>
                  <a:srgbClr val="17226B"/>
                </a:solidFill>
                <a:latin typeface="Calibri"/>
              </a:rPr>
              <a:t>Lazy route + görev ekranları</a:t>
            </a:r>
            <a:endParaRPr lang="tr-TR" sz="1200" b="1">
              <a:solidFill>
                <a:srgbClr val="17226B"/>
              </a:solidFill>
              <a:latin typeface="Calibri"/>
            </a:endParaRPr>
          </a:p>
        </p:txBody>
      </p:sp>
      <p:sp>
        <p:nvSpPr>
          <p:cNvPr id="8" name="Metin kutusu 7"/>
          <p:cNvSpPr txBox="1"/>
          <p:nvPr/>
        </p:nvSpPr>
        <p:spPr>
          <a:xfrm>
            <a:off x="4762500" y="2540000"/>
            <a:ext cx="381000" cy="466794"/>
          </a:xfrm>
          <a:prstGeom prst="rect">
            <a:avLst/>
          </a:prstGeom>
          <a:noFill/>
        </p:spPr>
        <p:txBody>
          <a:bodyPr vert="horz" wrap="square" lIns="101600" tIns="63500" rIns="101600" bIns="63500" rtlCol="0">
            <a:spAutoFit/>
          </a:bodyPr>
          <a:lstStyle/>
          <a:p>
            <a:pPr algn="ctr"/>
            <a:r>
              <a:rPr lang="tr-TR" sz="2200" b="1" smtClean="0">
                <a:solidFill>
                  <a:srgbClr val="17226B"/>
                </a:solidFill>
                <a:latin typeface="Calibri"/>
              </a:rPr>
              <a:t>&gt;</a:t>
            </a:r>
            <a:endParaRPr lang="tr-TR" sz="2200" b="1">
              <a:solidFill>
                <a:srgbClr val="17226B"/>
              </a:solidFill>
              <a:latin typeface="Calibri"/>
            </a:endParaRPr>
          </a:p>
        </p:txBody>
      </p:sp>
      <p:sp>
        <p:nvSpPr>
          <p:cNvPr id="9" name="Yuvarlatılmış Dikdörtgen 8"/>
          <p:cNvSpPr/>
          <p:nvPr/>
        </p:nvSpPr>
        <p:spPr>
          <a:xfrm>
            <a:off x="5105400" y="2260600"/>
            <a:ext cx="1752600" cy="990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EE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63500" rIns="101600" bIns="63500" rtlCol="0" anchor="ctr"/>
          <a:lstStyle/>
          <a:p>
            <a:pPr algn="ctr"/>
            <a:r>
              <a:rPr lang="tr-TR" sz="1200" b="1" smtClean="0">
                <a:solidFill>
                  <a:srgbClr val="17226B"/>
                </a:solidFill>
                <a:latin typeface="Calibri"/>
              </a:rPr>
              <a:t>Auth Katmanı</a:t>
            </a:r>
          </a:p>
          <a:p>
            <a:pPr algn="ctr"/>
            <a:r>
              <a:rPr lang="tr-TR" sz="1200" b="1" smtClean="0">
                <a:solidFill>
                  <a:srgbClr val="17226B"/>
                </a:solidFill>
                <a:latin typeface="Calibri"/>
              </a:rPr>
              <a:t>Guard + interceptor + refresh</a:t>
            </a:r>
            <a:endParaRPr lang="tr-TR" sz="1200" b="1">
              <a:solidFill>
                <a:srgbClr val="17226B"/>
              </a:solidFill>
              <a:latin typeface="Calibri"/>
            </a:endParaRPr>
          </a:p>
        </p:txBody>
      </p:sp>
      <p:sp>
        <p:nvSpPr>
          <p:cNvPr id="10" name="Metin kutusu 9"/>
          <p:cNvSpPr txBox="1"/>
          <p:nvPr/>
        </p:nvSpPr>
        <p:spPr>
          <a:xfrm>
            <a:off x="6946900" y="2540000"/>
            <a:ext cx="381000" cy="466794"/>
          </a:xfrm>
          <a:prstGeom prst="rect">
            <a:avLst/>
          </a:prstGeom>
          <a:noFill/>
        </p:spPr>
        <p:txBody>
          <a:bodyPr vert="horz" wrap="square" lIns="101600" tIns="63500" rIns="101600" bIns="63500" rtlCol="0">
            <a:spAutoFit/>
          </a:bodyPr>
          <a:lstStyle/>
          <a:p>
            <a:pPr algn="ctr"/>
            <a:r>
              <a:rPr lang="tr-TR" sz="2200" b="1" smtClean="0">
                <a:solidFill>
                  <a:srgbClr val="17226B"/>
                </a:solidFill>
                <a:latin typeface="Calibri"/>
              </a:rPr>
              <a:t>&gt;</a:t>
            </a:r>
            <a:endParaRPr lang="tr-TR" sz="2200" b="1">
              <a:solidFill>
                <a:srgbClr val="17226B"/>
              </a:solidFill>
              <a:latin typeface="Calibri"/>
            </a:endParaRPr>
          </a:p>
        </p:txBody>
      </p:sp>
      <p:sp>
        <p:nvSpPr>
          <p:cNvPr id="11" name="Yuvarlatılmış Dikdörtgen 10"/>
          <p:cNvSpPr/>
          <p:nvPr/>
        </p:nvSpPr>
        <p:spPr>
          <a:xfrm>
            <a:off x="7289800" y="2260600"/>
            <a:ext cx="1752600" cy="990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EE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63500" rIns="101600" bIns="63500" rtlCol="0" anchor="ctr"/>
          <a:lstStyle/>
          <a:p>
            <a:pPr algn="ctr"/>
            <a:r>
              <a:rPr lang="tr-TR" sz="1200" b="1" smtClean="0">
                <a:solidFill>
                  <a:srgbClr val="17226B"/>
                </a:solidFill>
                <a:latin typeface="Calibri"/>
              </a:rPr>
              <a:t>Modül Servisleri</a:t>
            </a:r>
          </a:p>
          <a:p>
            <a:pPr algn="ctr"/>
            <a:r>
              <a:rPr lang="tr-TR" sz="1200" b="1" smtClean="0">
                <a:solidFill>
                  <a:srgbClr val="17226B"/>
                </a:solidFill>
                <a:latin typeface="Calibri"/>
              </a:rPr>
              <a:t>BaseApiService + DTO</a:t>
            </a:r>
            <a:endParaRPr lang="tr-TR" sz="1200" b="1">
              <a:solidFill>
                <a:srgbClr val="17226B"/>
              </a:solidFill>
              <a:latin typeface="Calibri"/>
            </a:endParaRPr>
          </a:p>
        </p:txBody>
      </p:sp>
      <p:sp>
        <p:nvSpPr>
          <p:cNvPr id="12" name="Metin kutusu 11"/>
          <p:cNvSpPr txBox="1"/>
          <p:nvPr/>
        </p:nvSpPr>
        <p:spPr>
          <a:xfrm>
            <a:off x="9131300" y="2540000"/>
            <a:ext cx="381000" cy="466794"/>
          </a:xfrm>
          <a:prstGeom prst="rect">
            <a:avLst/>
          </a:prstGeom>
          <a:noFill/>
        </p:spPr>
        <p:txBody>
          <a:bodyPr vert="horz" wrap="square" lIns="101600" tIns="63500" rIns="101600" bIns="63500" rtlCol="0">
            <a:spAutoFit/>
          </a:bodyPr>
          <a:lstStyle/>
          <a:p>
            <a:pPr algn="ctr"/>
            <a:r>
              <a:rPr lang="tr-TR" sz="2200" b="1" smtClean="0">
                <a:solidFill>
                  <a:srgbClr val="17226B"/>
                </a:solidFill>
                <a:latin typeface="Calibri"/>
              </a:rPr>
              <a:t>&gt;</a:t>
            </a:r>
            <a:endParaRPr lang="tr-TR" sz="2200" b="1">
              <a:solidFill>
                <a:srgbClr val="17226B"/>
              </a:solidFill>
              <a:latin typeface="Calibri"/>
            </a:endParaRPr>
          </a:p>
        </p:txBody>
      </p:sp>
      <p:sp>
        <p:nvSpPr>
          <p:cNvPr id="13" name="Yuvarlatılmış Dikdörtgen 12"/>
          <p:cNvSpPr/>
          <p:nvPr/>
        </p:nvSpPr>
        <p:spPr>
          <a:xfrm>
            <a:off x="9474200" y="2260600"/>
            <a:ext cx="1752600" cy="990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EE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63500" rIns="101600" bIns="63500" rtlCol="0" anchor="ctr"/>
          <a:lstStyle/>
          <a:p>
            <a:pPr algn="ctr"/>
            <a:r>
              <a:rPr lang="tr-TR" sz="1200" b="1" smtClean="0">
                <a:solidFill>
                  <a:srgbClr val="17226B"/>
                </a:solidFill>
                <a:latin typeface="Calibri"/>
              </a:rPr>
              <a:t>Furpa API</a:t>
            </a:r>
          </a:p>
          <a:p>
            <a:pPr algn="ctr"/>
            <a:r>
              <a:rPr lang="tr-TR" sz="1200" b="1" smtClean="0">
                <a:solidFill>
                  <a:srgbClr val="17226B"/>
                </a:solidFill>
                <a:latin typeface="Calibri"/>
              </a:rPr>
              <a:t>/api/... endpointleri</a:t>
            </a:r>
            <a:endParaRPr lang="tr-TR" sz="1200" b="1">
              <a:solidFill>
                <a:srgbClr val="17226B"/>
              </a:solidFill>
              <a:latin typeface="Calibri"/>
            </a:endParaRPr>
          </a:p>
        </p:txBody>
      </p:sp>
      <p:sp>
        <p:nvSpPr>
          <p:cNvPr id="14" name="Metin kutusu 13"/>
          <p:cNvSpPr txBox="1"/>
          <p:nvPr/>
        </p:nvSpPr>
        <p:spPr>
          <a:xfrm>
            <a:off x="939800" y="4191000"/>
            <a:ext cx="9652000" cy="682238"/>
          </a:xfrm>
          <a:prstGeom prst="rect">
            <a:avLst/>
          </a:prstGeom>
          <a:noFill/>
        </p:spPr>
        <p:txBody>
          <a:bodyPr vert="horz" wrap="square" lIns="101600" tIns="63500" rIns="101600" bIns="63500" rtlCol="0">
            <a:spAutoFit/>
          </a:bodyPr>
          <a:lstStyle/>
          <a:p>
            <a:r>
              <a:rPr lang="tr-TR" sz="1200" smtClean="0">
                <a:solidFill>
                  <a:srgbClr val="172033"/>
                </a:solidFill>
                <a:latin typeface="Calibri"/>
              </a:rPr>
              <a:t>- Ortak API servis sınıfı URL ve query parametrelerini standartlaştırıyor.</a:t>
            </a:r>
          </a:p>
          <a:p>
            <a:r>
              <a:rPr lang="tr-TR" sz="1200" smtClean="0">
                <a:solidFill>
                  <a:srgbClr val="172033"/>
                </a:solidFill>
                <a:latin typeface="Calibri"/>
              </a:rPr>
              <a:t>- Güncel OpenAPI DTO dosyaları UI ve backend contract uyumunu koruyor.</a:t>
            </a:r>
          </a:p>
          <a:p>
            <a:r>
              <a:rPr lang="tr-TR" sz="1200" smtClean="0">
                <a:solidFill>
                  <a:srgbClr val="172033"/>
                </a:solidFill>
                <a:latin typeface="Calibri"/>
              </a:rPr>
              <a:t>- Ortam dosyaları development/production API adresini merkezi yönetiyor.</a:t>
            </a:r>
            <a:endParaRPr lang="tr-TR" sz="1200">
              <a:solidFill>
                <a:srgbClr val="172033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189826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etin kutusu 1"/>
          <p:cNvSpPr txBox="1"/>
          <p:nvPr/>
        </p:nvSpPr>
        <p:spPr>
          <a:xfrm>
            <a:off x="584200" y="330200"/>
            <a:ext cx="8128000" cy="512961"/>
          </a:xfrm>
          <a:prstGeom prst="rect">
            <a:avLst/>
          </a:prstGeom>
          <a:noFill/>
        </p:spPr>
        <p:txBody>
          <a:bodyPr vert="horz" wrap="square" lIns="101600" tIns="63500" rIns="101600" bIns="63500" rtlCol="0">
            <a:spAutoFit/>
          </a:bodyPr>
          <a:lstStyle/>
          <a:p>
            <a:r>
              <a:rPr lang="tr-TR" sz="2500" b="1" smtClean="0">
                <a:solidFill>
                  <a:srgbClr val="172033"/>
                </a:solidFill>
                <a:latin typeface="Calibri"/>
              </a:rPr>
              <a:t>Güvenlik ve Yetki</a:t>
            </a:r>
            <a:endParaRPr lang="tr-TR" sz="2500" b="1">
              <a:solidFill>
                <a:srgbClr val="172033"/>
              </a:solidFill>
              <a:latin typeface="Calibri"/>
            </a:endParaRPr>
          </a:p>
        </p:txBody>
      </p:sp>
      <p:sp>
        <p:nvSpPr>
          <p:cNvPr id="3" name="Metin kutusu 2"/>
          <p:cNvSpPr txBox="1"/>
          <p:nvPr/>
        </p:nvSpPr>
        <p:spPr>
          <a:xfrm>
            <a:off x="609600" y="774700"/>
            <a:ext cx="8953500" cy="266740"/>
          </a:xfrm>
          <a:prstGeom prst="rect">
            <a:avLst/>
          </a:prstGeom>
          <a:noFill/>
        </p:spPr>
        <p:txBody>
          <a:bodyPr vert="horz" wrap="square" lIns="101600" tIns="63500" rIns="101600" bIns="63500" rtlCol="0">
            <a:spAutoFit/>
          </a:bodyPr>
          <a:lstStyle/>
          <a:p>
            <a:r>
              <a:rPr lang="tr-TR" sz="900" smtClean="0">
                <a:solidFill>
                  <a:srgbClr val="667085"/>
                </a:solidFill>
                <a:latin typeface="Calibri"/>
              </a:rPr>
              <a:t>Ekran erişimi kullanıcının rol ve görev bilgisine göre şekilleniyor</a:t>
            </a:r>
            <a:endParaRPr lang="tr-TR" sz="900">
              <a:solidFill>
                <a:srgbClr val="667085"/>
              </a:solidFill>
              <a:latin typeface="Calibri"/>
            </a:endParaRPr>
          </a:p>
        </p:txBody>
      </p:sp>
      <p:sp>
        <p:nvSpPr>
          <p:cNvPr id="4" name="Dikdörtgen 3"/>
          <p:cNvSpPr/>
          <p:nvPr/>
        </p:nvSpPr>
        <p:spPr>
          <a:xfrm>
            <a:off x="609600" y="1168400"/>
            <a:ext cx="1079500" cy="63500"/>
          </a:xfrm>
          <a:prstGeom prst="rect">
            <a:avLst/>
          </a:prstGeom>
          <a:solidFill>
            <a:srgbClr val="FFE600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5" name="Yuvarlatılmış Dikdörtgen 4"/>
          <p:cNvSpPr/>
          <p:nvPr/>
        </p:nvSpPr>
        <p:spPr>
          <a:xfrm>
            <a:off x="787400" y="1447800"/>
            <a:ext cx="4889500" cy="3429000"/>
          </a:xfrm>
          <a:prstGeom prst="roundRect">
            <a:avLst/>
          </a:prstGeom>
          <a:solidFill>
            <a:srgbClr val="F4F6FA"/>
          </a:solidFill>
          <a:ln w="9525">
            <a:solidFill>
              <a:srgbClr val="D9DEE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63500" rIns="101600" bIns="63500" rtlCol="0" anchor="ctr"/>
          <a:lstStyle/>
          <a:p>
            <a:r>
              <a:rPr lang="tr-TR" sz="1300" smtClean="0">
                <a:solidFill>
                  <a:srgbClr val="172033"/>
                </a:solidFill>
                <a:latin typeface="Calibri"/>
              </a:rPr>
              <a:t>Mevcut koruma katmanları</a:t>
            </a:r>
          </a:p>
          <a:p>
            <a:r>
              <a:rPr lang="tr-TR" sz="1300" smtClean="0">
                <a:solidFill>
                  <a:srgbClr val="172033"/>
                </a:solidFill>
                <a:latin typeface="Calibri"/>
              </a:rPr>
              <a:t>- Login sonrası access/refresh token saklanır ve kullanıcı bilgisi hydrate edilir.</a:t>
            </a:r>
          </a:p>
          <a:p>
            <a:r>
              <a:rPr lang="tr-TR" sz="1300" smtClean="0">
                <a:solidFill>
                  <a:srgbClr val="172033"/>
                </a:solidFill>
                <a:latin typeface="Calibri"/>
              </a:rPr>
              <a:t>- Bearer token interceptor ile API çağrılarına otomatik eklenir.</a:t>
            </a:r>
          </a:p>
          <a:p>
            <a:r>
              <a:rPr lang="tr-TR" sz="1300" smtClean="0">
                <a:solidFill>
                  <a:srgbClr val="172033"/>
                </a:solidFill>
                <a:latin typeface="Calibri"/>
              </a:rPr>
              <a:t>- 401 durumunda token refresh akışı denenir, başarısızsa login ekranına dönülür.</a:t>
            </a:r>
          </a:p>
          <a:p>
            <a:r>
              <a:rPr lang="tr-TR" sz="1300" smtClean="0">
                <a:solidFill>
                  <a:srgbClr val="172033"/>
                </a:solidFill>
                <a:latin typeface="Calibri"/>
              </a:rPr>
              <a:t>- taskAccessGuard, yetkisiz görev ekranlarını dashboard'a yönlendirir.</a:t>
            </a:r>
            <a:endParaRPr lang="tr-TR" sz="1300">
              <a:solidFill>
                <a:srgbClr val="172033"/>
              </a:solidFill>
              <a:latin typeface="Calibri"/>
            </a:endParaRPr>
          </a:p>
        </p:txBody>
      </p:sp>
      <p:sp>
        <p:nvSpPr>
          <p:cNvPr id="6" name="Yuvarlatılmış Dikdörtgen 5"/>
          <p:cNvSpPr/>
          <p:nvPr/>
        </p:nvSpPr>
        <p:spPr>
          <a:xfrm>
            <a:off x="6350000" y="1498600"/>
            <a:ext cx="4521200" cy="1016000"/>
          </a:xfrm>
          <a:prstGeom prst="roundRect">
            <a:avLst/>
          </a:prstGeom>
          <a:solidFill>
            <a:srgbClr val="E7F6EE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63500" rIns="101600" bIns="63500" rtlCol="0" anchor="ctr"/>
          <a:lstStyle/>
          <a:p>
            <a:r>
              <a:rPr lang="tr-TR" sz="1300" b="1" smtClean="0">
                <a:solidFill>
                  <a:srgbClr val="0D8A3A"/>
                </a:solidFill>
                <a:latin typeface="Calibri"/>
              </a:rPr>
              <a:t>Yönetim Kazancı</a:t>
            </a:r>
          </a:p>
          <a:p>
            <a:r>
              <a:rPr lang="tr-TR" sz="1300" b="1" smtClean="0">
                <a:solidFill>
                  <a:srgbClr val="0D8A3A"/>
                </a:solidFill>
                <a:latin typeface="Calibri"/>
              </a:rPr>
              <a:t>Kullanıcıya sadece işini yapacağı menü gösterilir; operasyon sadeleşir, hata riski azalır.</a:t>
            </a:r>
            <a:endParaRPr lang="tr-TR" sz="1300" b="1">
              <a:solidFill>
                <a:srgbClr val="0D8A3A"/>
              </a:solidFill>
              <a:latin typeface="Calibri"/>
            </a:endParaRPr>
          </a:p>
        </p:txBody>
      </p:sp>
      <p:sp>
        <p:nvSpPr>
          <p:cNvPr id="7" name="Yuvarlatılmış Dikdörtgen 6"/>
          <p:cNvSpPr/>
          <p:nvPr/>
        </p:nvSpPr>
        <p:spPr>
          <a:xfrm>
            <a:off x="6350000" y="2921000"/>
            <a:ext cx="4521200" cy="1016000"/>
          </a:xfrm>
          <a:prstGeom prst="roundRect">
            <a:avLst/>
          </a:prstGeom>
          <a:solidFill>
            <a:srgbClr val="FCE8E6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63500" rIns="101600" bIns="63500" rtlCol="0" anchor="ctr"/>
          <a:lstStyle/>
          <a:p>
            <a:r>
              <a:rPr lang="tr-TR" sz="1300" b="1" smtClean="0">
                <a:solidFill>
                  <a:srgbClr val="C62828"/>
                </a:solidFill>
                <a:latin typeface="Calibri"/>
              </a:rPr>
              <a:t>Denetim Kazancı</a:t>
            </a:r>
          </a:p>
          <a:p>
            <a:r>
              <a:rPr lang="tr-TR" sz="1300" b="1" smtClean="0">
                <a:solidFill>
                  <a:srgbClr val="C62828"/>
                </a:solidFill>
                <a:latin typeface="Calibri"/>
              </a:rPr>
              <a:t>Rol, permission ve görev eşleştirmeleri merkezi bir yapıda izlenebilir hale gelir.</a:t>
            </a:r>
            <a:endParaRPr lang="tr-TR" sz="1300" b="1">
              <a:solidFill>
                <a:srgbClr val="C62828"/>
              </a:solidFill>
              <a:latin typeface="Calibri"/>
            </a:endParaRPr>
          </a:p>
        </p:txBody>
      </p:sp>
      <p:sp>
        <p:nvSpPr>
          <p:cNvPr id="8" name="Yuvarlatılmış Dikdörtgen 7"/>
          <p:cNvSpPr/>
          <p:nvPr/>
        </p:nvSpPr>
        <p:spPr>
          <a:xfrm>
            <a:off x="6350000" y="4343400"/>
            <a:ext cx="4521200" cy="1016000"/>
          </a:xfrm>
          <a:prstGeom prst="roundRect">
            <a:avLst/>
          </a:prstGeom>
          <a:solidFill>
            <a:srgbClr val="EAF0FF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63500" rIns="101600" bIns="63500" rtlCol="0" anchor="ctr"/>
          <a:lstStyle/>
          <a:p>
            <a:r>
              <a:rPr lang="tr-TR" sz="1300" b="1" smtClean="0">
                <a:solidFill>
                  <a:srgbClr val="17226B"/>
                </a:solidFill>
                <a:latin typeface="Calibri"/>
              </a:rPr>
              <a:t>Sürdürülebilirlik</a:t>
            </a:r>
          </a:p>
          <a:p>
            <a:r>
              <a:rPr lang="tr-TR" sz="1300" b="1" smtClean="0">
                <a:solidFill>
                  <a:srgbClr val="17226B"/>
                </a:solidFill>
                <a:latin typeface="Calibri"/>
              </a:rPr>
              <a:t>Yeni görevler registry kaynaklarına eklenerek menü, rota ve erişim yapısına dahil edilebilir.</a:t>
            </a:r>
            <a:endParaRPr lang="tr-TR" sz="1300" b="1">
              <a:solidFill>
                <a:srgbClr val="17226B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389964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etin kutusu 1"/>
          <p:cNvSpPr txBox="1"/>
          <p:nvPr/>
        </p:nvSpPr>
        <p:spPr>
          <a:xfrm>
            <a:off x="584200" y="330200"/>
            <a:ext cx="8128000" cy="512961"/>
          </a:xfrm>
          <a:prstGeom prst="rect">
            <a:avLst/>
          </a:prstGeom>
          <a:noFill/>
        </p:spPr>
        <p:txBody>
          <a:bodyPr vert="horz" wrap="square" lIns="101600" tIns="63500" rIns="101600" bIns="63500" rtlCol="0">
            <a:spAutoFit/>
          </a:bodyPr>
          <a:lstStyle/>
          <a:p>
            <a:r>
              <a:rPr lang="tr-TR" sz="2500" b="1" smtClean="0">
                <a:solidFill>
                  <a:srgbClr val="172033"/>
                </a:solidFill>
                <a:latin typeface="Calibri"/>
              </a:rPr>
              <a:t>Operasyonel Değer</a:t>
            </a:r>
            <a:endParaRPr lang="tr-TR" sz="2500" b="1">
              <a:solidFill>
                <a:srgbClr val="172033"/>
              </a:solidFill>
              <a:latin typeface="Calibri"/>
            </a:endParaRPr>
          </a:p>
        </p:txBody>
      </p:sp>
      <p:sp>
        <p:nvSpPr>
          <p:cNvPr id="3" name="Metin kutusu 2"/>
          <p:cNvSpPr txBox="1"/>
          <p:nvPr/>
        </p:nvSpPr>
        <p:spPr>
          <a:xfrm>
            <a:off x="609600" y="774700"/>
            <a:ext cx="8953500" cy="266740"/>
          </a:xfrm>
          <a:prstGeom prst="rect">
            <a:avLst/>
          </a:prstGeom>
          <a:noFill/>
        </p:spPr>
        <p:txBody>
          <a:bodyPr vert="horz" wrap="square" lIns="101600" tIns="63500" rIns="101600" bIns="63500" rtlCol="0">
            <a:spAutoFit/>
          </a:bodyPr>
          <a:lstStyle/>
          <a:p>
            <a:r>
              <a:rPr lang="tr-TR" sz="900" smtClean="0">
                <a:solidFill>
                  <a:srgbClr val="667085"/>
                </a:solidFill>
                <a:latin typeface="Calibri"/>
              </a:rPr>
              <a:t>Projenin işe etkisi</a:t>
            </a:r>
            <a:endParaRPr lang="tr-TR" sz="900">
              <a:solidFill>
                <a:srgbClr val="667085"/>
              </a:solidFill>
              <a:latin typeface="Calibri"/>
            </a:endParaRPr>
          </a:p>
        </p:txBody>
      </p:sp>
      <p:sp>
        <p:nvSpPr>
          <p:cNvPr id="4" name="Dikdörtgen 3"/>
          <p:cNvSpPr/>
          <p:nvPr/>
        </p:nvSpPr>
        <p:spPr>
          <a:xfrm>
            <a:off x="609600" y="1168400"/>
            <a:ext cx="1079500" cy="63500"/>
          </a:xfrm>
          <a:prstGeom prst="rect">
            <a:avLst/>
          </a:prstGeom>
          <a:solidFill>
            <a:srgbClr val="FFE600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5" name="Yuvarlatılmış Dikdörtgen 4"/>
          <p:cNvSpPr/>
          <p:nvPr/>
        </p:nvSpPr>
        <p:spPr>
          <a:xfrm>
            <a:off x="736600" y="1473200"/>
            <a:ext cx="2489200" cy="1219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EE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63500" rIns="101600" bIns="63500" rtlCol="0" anchor="ctr"/>
          <a:lstStyle/>
          <a:p>
            <a:r>
              <a:rPr lang="tr-TR" sz="1300" b="1" smtClean="0">
                <a:solidFill>
                  <a:srgbClr val="17226B"/>
                </a:solidFill>
                <a:latin typeface="Calibri"/>
              </a:rPr>
              <a:t>Zaman Kazancı</a:t>
            </a:r>
          </a:p>
          <a:p>
            <a:r>
              <a:rPr lang="tr-TR" sz="1300" b="1" smtClean="0">
                <a:solidFill>
                  <a:srgbClr val="17226B"/>
                </a:solidFill>
                <a:latin typeface="Calibri"/>
              </a:rPr>
              <a:t>Tekrarlı ekran ve dosya işlemleri tek merkezden yapılır.</a:t>
            </a:r>
            <a:endParaRPr lang="tr-TR" sz="1300" b="1">
              <a:solidFill>
                <a:srgbClr val="17226B"/>
              </a:solidFill>
              <a:latin typeface="Calibri"/>
            </a:endParaRPr>
          </a:p>
        </p:txBody>
      </p:sp>
      <p:sp>
        <p:nvSpPr>
          <p:cNvPr id="6" name="Yuvarlatılmış Dikdörtgen 5"/>
          <p:cNvSpPr/>
          <p:nvPr/>
        </p:nvSpPr>
        <p:spPr>
          <a:xfrm>
            <a:off x="3556000" y="1473200"/>
            <a:ext cx="2489200" cy="1219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EE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63500" rIns="101600" bIns="63500" rtlCol="0" anchor="ctr"/>
          <a:lstStyle/>
          <a:p>
            <a:r>
              <a:rPr lang="tr-TR" sz="1300" b="1" smtClean="0">
                <a:solidFill>
                  <a:srgbClr val="17226B"/>
                </a:solidFill>
                <a:latin typeface="Calibri"/>
              </a:rPr>
              <a:t>Daha Az Hata</a:t>
            </a:r>
          </a:p>
          <a:p>
            <a:r>
              <a:rPr lang="tr-TR" sz="1300" b="1" smtClean="0">
                <a:solidFill>
                  <a:srgbClr val="17226B"/>
                </a:solidFill>
                <a:latin typeface="Calibri"/>
              </a:rPr>
              <a:t>Yetki, lookup, DTO ve API standardı manuel hatayı azaltır.</a:t>
            </a:r>
            <a:endParaRPr lang="tr-TR" sz="1300" b="1">
              <a:solidFill>
                <a:srgbClr val="17226B"/>
              </a:solidFill>
              <a:latin typeface="Calibri"/>
            </a:endParaRPr>
          </a:p>
        </p:txBody>
      </p:sp>
      <p:sp>
        <p:nvSpPr>
          <p:cNvPr id="7" name="Yuvarlatılmış Dikdörtgen 6"/>
          <p:cNvSpPr/>
          <p:nvPr/>
        </p:nvSpPr>
        <p:spPr>
          <a:xfrm>
            <a:off x="6375400" y="1473200"/>
            <a:ext cx="2489200" cy="1219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EE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63500" rIns="101600" bIns="63500" rtlCol="0" anchor="ctr"/>
          <a:lstStyle/>
          <a:p>
            <a:r>
              <a:rPr lang="tr-TR" sz="1300" b="1" smtClean="0">
                <a:solidFill>
                  <a:srgbClr val="17226B"/>
                </a:solidFill>
                <a:latin typeface="Calibri"/>
              </a:rPr>
              <a:t>Daha İyi Takip</a:t>
            </a:r>
          </a:p>
          <a:p>
            <a:r>
              <a:rPr lang="tr-TR" sz="1300" b="1" smtClean="0">
                <a:solidFill>
                  <a:srgbClr val="17226B"/>
                </a:solidFill>
                <a:latin typeface="Calibri"/>
              </a:rPr>
              <a:t>Belge, aktarım, rapor ve analiz sonuçları görünür hale gelir.</a:t>
            </a:r>
            <a:endParaRPr lang="tr-TR" sz="1300" b="1">
              <a:solidFill>
                <a:srgbClr val="17226B"/>
              </a:solidFill>
              <a:latin typeface="Calibri"/>
            </a:endParaRPr>
          </a:p>
        </p:txBody>
      </p:sp>
      <p:sp>
        <p:nvSpPr>
          <p:cNvPr id="8" name="Yuvarlatılmış Dikdörtgen 7"/>
          <p:cNvSpPr/>
          <p:nvPr/>
        </p:nvSpPr>
        <p:spPr>
          <a:xfrm>
            <a:off x="9194800" y="1473200"/>
            <a:ext cx="2489200" cy="1219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EE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63500" rIns="101600" bIns="63500" rtlCol="0" anchor="ctr"/>
          <a:lstStyle/>
          <a:p>
            <a:r>
              <a:rPr lang="tr-TR" sz="1300" b="1" smtClean="0">
                <a:solidFill>
                  <a:srgbClr val="17226B"/>
                </a:solidFill>
                <a:latin typeface="Calibri"/>
              </a:rPr>
              <a:t>Büyümeye Uygunluk</a:t>
            </a:r>
          </a:p>
          <a:p>
            <a:r>
              <a:rPr lang="tr-TR" sz="1300" b="1" smtClean="0">
                <a:solidFill>
                  <a:srgbClr val="17226B"/>
                </a:solidFill>
                <a:latin typeface="Calibri"/>
              </a:rPr>
              <a:t>Yeni modül ve endpointler mevcut mimariye eklenebilir.</a:t>
            </a:r>
            <a:endParaRPr lang="tr-TR" sz="1300" b="1">
              <a:solidFill>
                <a:srgbClr val="17226B"/>
              </a:solidFill>
              <a:latin typeface="Calibri"/>
            </a:endParaRPr>
          </a:p>
        </p:txBody>
      </p:sp>
      <p:sp>
        <p:nvSpPr>
          <p:cNvPr id="9" name="Yuvarlatılmış Dikdörtgen 8"/>
          <p:cNvSpPr/>
          <p:nvPr/>
        </p:nvSpPr>
        <p:spPr>
          <a:xfrm>
            <a:off x="812800" y="3835400"/>
            <a:ext cx="9969500" cy="1422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EE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63500" rIns="101600" bIns="63500" rtlCol="0" anchor="ctr"/>
          <a:lstStyle/>
          <a:p>
            <a:r>
              <a:rPr lang="tr-TR" b="1" smtClean="0">
                <a:solidFill>
                  <a:srgbClr val="172033"/>
                </a:solidFill>
                <a:latin typeface="Calibri"/>
              </a:rPr>
              <a:t>Somut kapsam göstergesi</a:t>
            </a:r>
          </a:p>
          <a:p>
            <a:r>
              <a:rPr lang="tr-TR" b="1" smtClean="0">
                <a:solidFill>
                  <a:srgbClr val="172033"/>
                </a:solidFill>
                <a:latin typeface="Calibri"/>
              </a:rPr>
              <a:t>55 görev alanı; 296 endpoint referansı; 106 component dosyası; 52 liste, 24 detay ve 21 oluşturma ekranı; yaklaşık 98 bin satır uygulama kodu ve stil içeriği.</a:t>
            </a:r>
            <a:endParaRPr lang="tr-TR" b="1">
              <a:solidFill>
                <a:srgbClr val="172033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999027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etin kutusu 1"/>
          <p:cNvSpPr txBox="1"/>
          <p:nvPr/>
        </p:nvSpPr>
        <p:spPr>
          <a:xfrm>
            <a:off x="584200" y="330200"/>
            <a:ext cx="8128000" cy="512961"/>
          </a:xfrm>
          <a:prstGeom prst="rect">
            <a:avLst/>
          </a:prstGeom>
          <a:noFill/>
        </p:spPr>
        <p:txBody>
          <a:bodyPr vert="horz" wrap="square" lIns="101600" tIns="63500" rIns="101600" bIns="63500" rtlCol="0">
            <a:spAutoFit/>
          </a:bodyPr>
          <a:lstStyle/>
          <a:p>
            <a:r>
              <a:rPr lang="tr-TR" sz="2500" b="1" smtClean="0">
                <a:solidFill>
                  <a:srgbClr val="172033"/>
                </a:solidFill>
                <a:latin typeface="Calibri"/>
              </a:rPr>
              <a:t>Kalite ve Devreye Alma</a:t>
            </a:r>
            <a:endParaRPr lang="tr-TR" sz="2500" b="1">
              <a:solidFill>
                <a:srgbClr val="172033"/>
              </a:solidFill>
              <a:latin typeface="Calibri"/>
            </a:endParaRPr>
          </a:p>
        </p:txBody>
      </p:sp>
      <p:sp>
        <p:nvSpPr>
          <p:cNvPr id="3" name="Metin kutusu 2"/>
          <p:cNvSpPr txBox="1"/>
          <p:nvPr/>
        </p:nvSpPr>
        <p:spPr>
          <a:xfrm>
            <a:off x="609600" y="774700"/>
            <a:ext cx="8953500" cy="266740"/>
          </a:xfrm>
          <a:prstGeom prst="rect">
            <a:avLst/>
          </a:prstGeom>
          <a:noFill/>
        </p:spPr>
        <p:txBody>
          <a:bodyPr vert="horz" wrap="square" lIns="101600" tIns="63500" rIns="101600" bIns="63500" rtlCol="0">
            <a:spAutoFit/>
          </a:bodyPr>
          <a:lstStyle/>
          <a:p>
            <a:r>
              <a:rPr lang="tr-TR" sz="900" smtClean="0">
                <a:solidFill>
                  <a:srgbClr val="667085"/>
                </a:solidFill>
                <a:latin typeface="Calibri"/>
              </a:rPr>
              <a:t>Canlıya geçiş için teknik hazırlık başlıkları</a:t>
            </a:r>
            <a:endParaRPr lang="tr-TR" sz="900">
              <a:solidFill>
                <a:srgbClr val="667085"/>
              </a:solidFill>
              <a:latin typeface="Calibri"/>
            </a:endParaRPr>
          </a:p>
        </p:txBody>
      </p:sp>
      <p:sp>
        <p:nvSpPr>
          <p:cNvPr id="4" name="Dikdörtgen 3"/>
          <p:cNvSpPr/>
          <p:nvPr/>
        </p:nvSpPr>
        <p:spPr>
          <a:xfrm>
            <a:off x="609600" y="1168400"/>
            <a:ext cx="1079500" cy="63500"/>
          </a:xfrm>
          <a:prstGeom prst="rect">
            <a:avLst/>
          </a:prstGeom>
          <a:solidFill>
            <a:srgbClr val="FFE600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5" name="Metin kutusu 4"/>
          <p:cNvSpPr txBox="1"/>
          <p:nvPr/>
        </p:nvSpPr>
        <p:spPr>
          <a:xfrm>
            <a:off x="787400" y="1473200"/>
            <a:ext cx="5334000" cy="1928733"/>
          </a:xfrm>
          <a:prstGeom prst="rect">
            <a:avLst/>
          </a:prstGeom>
          <a:noFill/>
        </p:spPr>
        <p:txBody>
          <a:bodyPr vert="horz" wrap="square" lIns="101600" tIns="63500" rIns="101600" bIns="63500" rtlCol="0">
            <a:spAutoFit/>
          </a:bodyPr>
          <a:lstStyle/>
          <a:p>
            <a:r>
              <a:rPr lang="tr-TR" sz="1300" smtClean="0">
                <a:solidFill>
                  <a:srgbClr val="172033"/>
                </a:solidFill>
                <a:latin typeface="Calibri"/>
              </a:rPr>
              <a:t>- Production build konfigürasyonu ve bütçe limitleri tanımlı.</a:t>
            </a:r>
          </a:p>
          <a:p>
            <a:r>
              <a:rPr lang="tr-TR" sz="1300" smtClean="0">
                <a:solidFill>
                  <a:srgbClr val="172033"/>
                </a:solidFill>
                <a:latin typeface="Calibri"/>
              </a:rPr>
              <a:t>- Development ve production ortamlarında API base URL merkezi dosyadan yönetiliyor.</a:t>
            </a:r>
          </a:p>
          <a:p>
            <a:r>
              <a:rPr lang="tr-TR" sz="1300" smtClean="0">
                <a:solidFill>
                  <a:srgbClr val="172033"/>
                </a:solidFill>
                <a:latin typeface="Calibri"/>
              </a:rPr>
              <a:t>- 17 adet test/spec dosyası kritik servis, guard, registry ve komponentleri kapsıyor.</a:t>
            </a:r>
          </a:p>
          <a:p>
            <a:r>
              <a:rPr lang="tr-TR" sz="1300" smtClean="0">
                <a:solidFill>
                  <a:srgbClr val="172033"/>
                </a:solidFill>
                <a:latin typeface="Calibri"/>
              </a:rPr>
              <a:t>- Web.config ve assets yapısı IIS/production yayınlamaya uygun şekilde ayrılmış.</a:t>
            </a:r>
          </a:p>
          <a:p>
            <a:r>
              <a:rPr lang="tr-TR" sz="1300" smtClean="0">
                <a:solidFill>
                  <a:srgbClr val="172033"/>
                </a:solidFill>
                <a:latin typeface="Calibri"/>
              </a:rPr>
              <a:t>- Baskı stilleri etiket, fiyat değişim listesi, raf etiketi, A4/A5 ve kasa icmali için hazır.</a:t>
            </a:r>
            <a:endParaRPr lang="tr-TR" sz="1300">
              <a:solidFill>
                <a:srgbClr val="172033"/>
              </a:solidFill>
              <a:latin typeface="Calibri"/>
            </a:endParaRPr>
          </a:p>
        </p:txBody>
      </p:sp>
      <p:sp>
        <p:nvSpPr>
          <p:cNvPr id="6" name="Yuvarlatılmış Dikdörtgen 5"/>
          <p:cNvSpPr/>
          <p:nvPr/>
        </p:nvSpPr>
        <p:spPr>
          <a:xfrm>
            <a:off x="6477000" y="1676400"/>
            <a:ext cx="4191000" cy="2222500"/>
          </a:xfrm>
          <a:prstGeom prst="roundRect">
            <a:avLst/>
          </a:prstGeom>
          <a:solidFill>
            <a:srgbClr val="E7F6EE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63500" rIns="101600" bIns="63500" rtlCol="0" anchor="ctr"/>
          <a:lstStyle/>
          <a:p>
            <a:r>
              <a:rPr lang="tr-TR" sz="1300" smtClean="0">
                <a:solidFill>
                  <a:srgbClr val="172033"/>
                </a:solidFill>
                <a:latin typeface="Calibri"/>
              </a:rPr>
              <a:t>Önerilen yol</a:t>
            </a:r>
          </a:p>
          <a:p>
            <a:r>
              <a:rPr lang="tr-TR" sz="1300" smtClean="0">
                <a:solidFill>
                  <a:srgbClr val="172033"/>
                </a:solidFill>
                <a:latin typeface="Calibri"/>
              </a:rPr>
              <a:t>1. Pilot şube ve pilot kullanıcılar belirlenir.</a:t>
            </a:r>
          </a:p>
          <a:p>
            <a:r>
              <a:rPr lang="tr-TR" sz="1300" smtClean="0">
                <a:solidFill>
                  <a:srgbClr val="172033"/>
                </a:solidFill>
                <a:latin typeface="Calibri"/>
              </a:rPr>
              <a:t>2. En çok kullanılan 10 akışta kullanıcı kabul testi yapılır.</a:t>
            </a:r>
          </a:p>
          <a:p>
            <a:r>
              <a:rPr lang="tr-TR" sz="1300" smtClean="0">
                <a:solidFill>
                  <a:srgbClr val="172033"/>
                </a:solidFill>
                <a:latin typeface="Calibri"/>
              </a:rPr>
              <a:t>3. Yetki matrisi son kez yönetimle netleştirilir.</a:t>
            </a:r>
          </a:p>
          <a:p>
            <a:r>
              <a:rPr lang="tr-TR" sz="1300" smtClean="0">
                <a:solidFill>
                  <a:srgbClr val="172033"/>
                </a:solidFill>
                <a:latin typeface="Calibri"/>
              </a:rPr>
              <a:t>4. Canlı geçiş takvimi ve destek sorumluları atanır.</a:t>
            </a:r>
            <a:endParaRPr lang="tr-TR" sz="1300">
              <a:solidFill>
                <a:srgbClr val="172033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584077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sim 1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600" y="584200"/>
            <a:ext cx="2540000" cy="584200"/>
          </a:xfrm>
          <a:prstGeom prst="rect">
            <a:avLst/>
          </a:prstGeom>
        </p:spPr>
      </p:pic>
      <p:sp>
        <p:nvSpPr>
          <p:cNvPr id="3" name="Metin kutusu 2"/>
          <p:cNvSpPr txBox="1"/>
          <p:nvPr/>
        </p:nvSpPr>
        <p:spPr>
          <a:xfrm>
            <a:off x="736600" y="1498600"/>
            <a:ext cx="7112000" cy="713016"/>
          </a:xfrm>
          <a:prstGeom prst="rect">
            <a:avLst/>
          </a:prstGeom>
          <a:noFill/>
        </p:spPr>
        <p:txBody>
          <a:bodyPr vert="horz" wrap="square" lIns="101600" tIns="63500" rIns="101600" bIns="63500" rtlCol="0">
            <a:spAutoFit/>
          </a:bodyPr>
          <a:lstStyle/>
          <a:p>
            <a:r>
              <a:rPr lang="tr-TR" sz="3800" b="1" smtClean="0">
                <a:solidFill>
                  <a:srgbClr val="FFFFFF"/>
                </a:solidFill>
                <a:latin typeface="Calibri"/>
              </a:rPr>
              <a:t>Karar Noktası</a:t>
            </a:r>
            <a:endParaRPr lang="tr-TR" sz="38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" name="Metin kutusu 3"/>
          <p:cNvSpPr txBox="1"/>
          <p:nvPr/>
        </p:nvSpPr>
        <p:spPr>
          <a:xfrm>
            <a:off x="787400" y="2667000"/>
            <a:ext cx="6731000" cy="713016"/>
          </a:xfrm>
          <a:prstGeom prst="rect">
            <a:avLst/>
          </a:prstGeom>
          <a:noFill/>
        </p:spPr>
        <p:txBody>
          <a:bodyPr vert="horz" wrap="square" lIns="101600" tIns="63500" rIns="101600" bIns="63500" rtlCol="0">
            <a:spAutoFit/>
          </a:bodyPr>
          <a:lstStyle/>
          <a:p>
            <a:r>
              <a:rPr lang="tr-TR" sz="1900" smtClean="0">
                <a:solidFill>
                  <a:srgbClr val="E8EDFF"/>
                </a:solidFill>
                <a:latin typeface="Calibri"/>
              </a:rPr>
              <a:t>Proje, merkez operasyonlarını tek panelde toplamak için hazır bir temel sunuyor.</a:t>
            </a:r>
            <a:endParaRPr lang="tr-TR" sz="1900">
              <a:solidFill>
                <a:srgbClr val="E8EDFF"/>
              </a:solidFill>
              <a:latin typeface="Calibri"/>
            </a:endParaRPr>
          </a:p>
        </p:txBody>
      </p:sp>
      <p:sp>
        <p:nvSpPr>
          <p:cNvPr id="5" name="Yuvarlatılmış Dikdörtgen 4"/>
          <p:cNvSpPr/>
          <p:nvPr/>
        </p:nvSpPr>
        <p:spPr>
          <a:xfrm>
            <a:off x="812800" y="4064000"/>
            <a:ext cx="5308600" cy="1168400"/>
          </a:xfrm>
          <a:prstGeom prst="roundRect">
            <a:avLst/>
          </a:prstGeom>
          <a:solidFill>
            <a:srgbClr val="101A44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63500" rIns="101600" bIns="63500" rtlCol="0" anchor="ctr"/>
          <a:lstStyle/>
          <a:p>
            <a:r>
              <a:rPr lang="tr-TR" sz="1500" b="1" smtClean="0">
                <a:solidFill>
                  <a:srgbClr val="FFFFFF"/>
                </a:solidFill>
                <a:latin typeface="Calibri"/>
              </a:rPr>
              <a:t>Yönetimden beklenen</a:t>
            </a:r>
          </a:p>
          <a:p>
            <a:r>
              <a:rPr lang="tr-TR" sz="1500" b="1" smtClean="0">
                <a:solidFill>
                  <a:srgbClr val="FFFFFF"/>
                </a:solidFill>
                <a:latin typeface="Calibri"/>
              </a:rPr>
              <a:t>Pilot kapsam, öncelikli ekranlar, yetki matrisi ve canlı geçiş takvimi için onay.</a:t>
            </a:r>
            <a:endParaRPr lang="tr-TR" sz="15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" name="Yuvarlatılmış Dikdörtgen 5"/>
          <p:cNvSpPr/>
          <p:nvPr/>
        </p:nvSpPr>
        <p:spPr>
          <a:xfrm>
            <a:off x="8128000" y="1333500"/>
            <a:ext cx="3238500" cy="3365500"/>
          </a:xfrm>
          <a:prstGeom prst="roundRect">
            <a:avLst/>
          </a:prstGeom>
          <a:solidFill>
            <a:srgbClr val="FFE600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63500" rIns="101600" bIns="63500" rtlCol="0" anchor="ctr"/>
          <a:lstStyle/>
          <a:p>
            <a:pPr algn="ctr"/>
            <a:r>
              <a:rPr lang="tr-TR" sz="2200" b="1" smtClean="0">
                <a:solidFill>
                  <a:srgbClr val="17226B"/>
                </a:solidFill>
                <a:latin typeface="Calibri"/>
              </a:rPr>
              <a:t>Tek merkez</a:t>
            </a:r>
          </a:p>
          <a:p>
            <a:pPr algn="ctr"/>
            <a:r>
              <a:rPr lang="tr-TR" sz="2200" b="1" smtClean="0">
                <a:solidFill>
                  <a:srgbClr val="17226B"/>
                </a:solidFill>
                <a:latin typeface="Calibri"/>
              </a:rPr>
              <a:t>Doğru yetki</a:t>
            </a:r>
          </a:p>
          <a:p>
            <a:pPr algn="ctr"/>
            <a:r>
              <a:rPr lang="tr-TR" sz="2200" b="1" smtClean="0">
                <a:solidFill>
                  <a:srgbClr val="17226B"/>
                </a:solidFill>
                <a:latin typeface="Calibri"/>
              </a:rPr>
              <a:t>Hızlı operasyon</a:t>
            </a:r>
          </a:p>
          <a:p>
            <a:pPr algn="ctr"/>
            <a:r>
              <a:rPr lang="tr-TR" sz="2200" b="1" smtClean="0">
                <a:solidFill>
                  <a:srgbClr val="17226B"/>
                </a:solidFill>
                <a:latin typeface="Calibri"/>
              </a:rPr>
              <a:t>Ölçülebilir sonuç</a:t>
            </a:r>
            <a:endParaRPr lang="tr-TR" sz="2200" b="1">
              <a:solidFill>
                <a:srgbClr val="17226B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42147107"/>
      </p:ext>
    </p:extLst>
  </p:cSld>
  <p:clrMapOvr>
    <a:masterClrMapping/>
  </p:clrMapOvr>
</p:sld>
</file>

<file path=ppt/theme/theme1.xml><?xml version="1.0" encoding="utf-8"?>
<a:theme xmlns:a="http://schemas.openxmlformats.org/drawingml/2006/main" name="Ofis Teması">
  <a:themeElements>
    <a:clrScheme name="Ofi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i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848</Words>
  <Application>Microsoft Office PowerPoint</Application>
  <PresentationFormat>Özel</PresentationFormat>
  <Paragraphs>125</Paragraphs>
  <Slides>10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Slayt Başlıkları</vt:lpstr>
      </vt:variant>
      <vt:variant>
        <vt:i4>10</vt:i4>
      </vt:variant>
    </vt:vector>
  </HeadingPairs>
  <TitlesOfParts>
    <vt:vector size="11" baseType="lpstr">
      <vt:lpstr>Ofis Teması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Sunusu</dc:title>
  <dc:creator>serdal ozsoy</dc:creator>
  <cp:lastModifiedBy>serdal ozsoy</cp:lastModifiedBy>
  <cp:revision>1</cp:revision>
  <dcterms:created xsi:type="dcterms:W3CDTF">2026-07-21T10:10:22Z</dcterms:created>
  <dcterms:modified xsi:type="dcterms:W3CDTF">2026-07-21T10:10:30Z</dcterms:modified>
</cp:coreProperties>
</file>